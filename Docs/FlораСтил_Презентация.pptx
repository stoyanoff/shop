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15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35E7B66-7C93-4644-9B6C-6D52AB6AF60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AD0017-1A9D-472E-A40E-22DE7E3BA84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1F6048-84F6-4FC3-9F02-31CDF705FD4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348E67-F5D8-4AEF-BF6A-96C9FC4E328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8B3E23-B3E2-4B01-A1EE-17E938707C4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9D7511-053D-4567-95A2-AF8A24EAF67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01D0E1-9137-4DD4-99E2-10FB4A43F1E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E70020-6EC1-42DF-A5DD-FB51904E534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73CFC9-7827-44F8-ADC0-D5E1579856A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FFA208-AD6C-4A92-BFEB-DF9E5929B65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4B2EF8-0721-46DB-86F0-710AE198EDF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E683B5-54BB-4837-9D54-D473FA3202D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A1F807-3510-40C5-8D1A-0A79EF69467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6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6858000" y="-1097280"/>
            <a:ext cx="3657240" cy="3657240"/>
          </a:xfrm>
          <a:prstGeom prst="ellipse">
            <a:avLst/>
          </a:prstGeom>
          <a:solidFill>
            <a:srgbClr val="2e8b4a">
              <a:alpha val="40000"/>
            </a:srgbClr>
          </a:solidFill>
          <a:ln w="12700">
            <a:solidFill>
              <a:srgbClr val="2e8b4a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Shape 1"/>
          <p:cNvSpPr/>
          <p:nvPr/>
        </p:nvSpPr>
        <p:spPr>
          <a:xfrm>
            <a:off x="7498080" y="-457200"/>
            <a:ext cx="2285640" cy="2285640"/>
          </a:xfrm>
          <a:prstGeom prst="ellipse">
            <a:avLst/>
          </a:prstGeom>
          <a:solidFill>
            <a:srgbClr val="f0a500">
              <a:alpha val="25000"/>
            </a:srgbClr>
          </a:solidFill>
          <a:ln w="12700">
            <a:solidFill>
              <a:srgbClr val="f0a500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-457200" y="3474720"/>
            <a:ext cx="2285640" cy="2285640"/>
          </a:xfrm>
          <a:prstGeom prst="ellipse">
            <a:avLst/>
          </a:prstGeom>
          <a:solidFill>
            <a:srgbClr val="2e8b4a">
              <a:alpha val="35000"/>
            </a:srgbClr>
          </a:solidFill>
          <a:ln w="12700">
            <a:solidFill>
              <a:srgbClr val="2e8b4a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48640" y="457200"/>
            <a:ext cx="1096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200" spc="-1" strike="noStrike">
                <a:solidFill>
                  <a:srgbClr val="000000"/>
                </a:solidFill>
                <a:latin typeface="Calibri"/>
              </a:rPr>
              <a:t>🌸</a:t>
            </a:r>
            <a:endParaRPr b="0" lang="en-US" sz="5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48640" y="13716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600" spc="299" strike="noStrike">
                <a:solidFill>
                  <a:srgbClr val="ffffff"/>
                </a:solidFill>
                <a:latin typeface="Calibri"/>
                <a:ea typeface="Calibri"/>
              </a:rPr>
              <a:t>ФлораСтил</a:t>
            </a:r>
            <a:endParaRPr b="0" lang="en-US" sz="4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548640" y="2331720"/>
            <a:ext cx="7314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a7d7b0"/>
                </a:solidFill>
                <a:latin typeface="Calibri"/>
                <a:ea typeface="Calibri"/>
              </a:rPr>
              <a:t>Уеб сайт за онлайн магазин за цветя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548640" y="2971800"/>
            <a:ext cx="4114440" cy="453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Text 7"/>
          <p:cNvSpPr/>
          <p:nvPr/>
        </p:nvSpPr>
        <p:spPr>
          <a:xfrm>
            <a:off x="548640" y="32004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a7d7b0"/>
                </a:solidFill>
                <a:latin typeface="Calibri"/>
                <a:ea typeface="Calibri"/>
              </a:rPr>
              <a:t>Разработил: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Таня Стоянова Стоянова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548640" y="361188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a7d7b0"/>
                </a:solidFill>
                <a:latin typeface="Calibri"/>
                <a:ea typeface="Calibri"/>
              </a:rPr>
              <a:t>Специалност: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Приложно програмиране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548640" y="402336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a7d7b0"/>
                </a:solidFill>
                <a:latin typeface="Calibri"/>
                <a:ea typeface="Calibri"/>
              </a:rPr>
              <a:t>Ръководител: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инж. Светозара Стоянова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0" y="470916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eaf7e"/>
                </a:solidFill>
                <a:latin typeface="Calibri"/>
                <a:ea typeface="Calibri"/>
              </a:rPr>
              <a:t>ПГЕХТ "Проф. Асен Златаров" • Плевен • 2026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1b6b2f"/>
          </a:solidFill>
          <a:ln w="12700">
            <a:solidFill>
              <a:srgbClr val="1b6b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" name="Text 1"/>
          <p:cNvSpPr/>
          <p:nvPr/>
        </p:nvSpPr>
        <p:spPr>
          <a:xfrm>
            <a:off x="36576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1b6b2f"/>
                </a:solidFill>
                <a:latin typeface="Calibri"/>
                <a:ea typeface="Calibri"/>
              </a:rPr>
              <a:t>Съдържание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2"/>
          <p:cNvSpPr/>
          <p:nvPr/>
        </p:nvSpPr>
        <p:spPr>
          <a:xfrm>
            <a:off x="365760" y="1143000"/>
            <a:ext cx="4114440" cy="868320"/>
          </a:xfrm>
          <a:prstGeom prst="rect">
            <a:avLst/>
          </a:prstGeom>
          <a:solidFill>
            <a:srgbClr val="eaf5ec"/>
          </a:solidFill>
          <a:ln w="12700">
            <a:solidFill>
              <a:srgbClr val="c8e6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Shape 3"/>
          <p:cNvSpPr/>
          <p:nvPr/>
        </p:nvSpPr>
        <p:spPr>
          <a:xfrm>
            <a:off x="365760" y="1143000"/>
            <a:ext cx="685440" cy="868320"/>
          </a:xfrm>
          <a:prstGeom prst="rect">
            <a:avLst/>
          </a:prstGeom>
          <a:solidFill>
            <a:srgbClr val="2e8b4a"/>
          </a:solidFill>
          <a:ln w="12700">
            <a:solidFill>
              <a:srgbClr val="2e8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Text 4"/>
          <p:cNvSpPr/>
          <p:nvPr/>
        </p:nvSpPr>
        <p:spPr>
          <a:xfrm>
            <a:off x="365760" y="1143000"/>
            <a:ext cx="6854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01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5"/>
          <p:cNvSpPr/>
          <p:nvPr/>
        </p:nvSpPr>
        <p:spPr>
          <a:xfrm>
            <a:off x="1143000" y="1188720"/>
            <a:ext cx="32457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74151"/>
                </a:solidFill>
                <a:latin typeface="Calibri"/>
                <a:ea typeface="Calibri"/>
              </a:rPr>
              <a:t>Увод и цел на проекта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6"/>
          <p:cNvSpPr/>
          <p:nvPr/>
        </p:nvSpPr>
        <p:spPr>
          <a:xfrm>
            <a:off x="4846320" y="1143000"/>
            <a:ext cx="4114440" cy="868320"/>
          </a:xfrm>
          <a:prstGeom prst="rect">
            <a:avLst/>
          </a:prstGeom>
          <a:solidFill>
            <a:srgbClr val="eaf5ec"/>
          </a:solidFill>
          <a:ln w="12700">
            <a:solidFill>
              <a:srgbClr val="c8e6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Shape 7"/>
          <p:cNvSpPr/>
          <p:nvPr/>
        </p:nvSpPr>
        <p:spPr>
          <a:xfrm>
            <a:off x="4846320" y="1143000"/>
            <a:ext cx="685440" cy="868320"/>
          </a:xfrm>
          <a:prstGeom prst="rect">
            <a:avLst/>
          </a:prstGeom>
          <a:solidFill>
            <a:srgbClr val="2e8b4a"/>
          </a:solidFill>
          <a:ln w="12700">
            <a:solidFill>
              <a:srgbClr val="2e8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Text 8"/>
          <p:cNvSpPr/>
          <p:nvPr/>
        </p:nvSpPr>
        <p:spPr>
          <a:xfrm>
            <a:off x="4846320" y="1143000"/>
            <a:ext cx="6854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02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9"/>
          <p:cNvSpPr/>
          <p:nvPr/>
        </p:nvSpPr>
        <p:spPr>
          <a:xfrm>
            <a:off x="5623560" y="1188720"/>
            <a:ext cx="32457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74151"/>
                </a:solidFill>
                <a:latin typeface="Calibri"/>
                <a:ea typeface="Calibri"/>
              </a:rPr>
              <a:t>Технологичен стек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10"/>
          <p:cNvSpPr/>
          <p:nvPr/>
        </p:nvSpPr>
        <p:spPr>
          <a:xfrm>
            <a:off x="365760" y="2240280"/>
            <a:ext cx="4114440" cy="868320"/>
          </a:xfrm>
          <a:prstGeom prst="rect">
            <a:avLst/>
          </a:prstGeom>
          <a:solidFill>
            <a:srgbClr val="eaf5ec"/>
          </a:solidFill>
          <a:ln w="12700">
            <a:solidFill>
              <a:srgbClr val="c8e6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Shape 11"/>
          <p:cNvSpPr/>
          <p:nvPr/>
        </p:nvSpPr>
        <p:spPr>
          <a:xfrm>
            <a:off x="365760" y="2240280"/>
            <a:ext cx="685440" cy="868320"/>
          </a:xfrm>
          <a:prstGeom prst="rect">
            <a:avLst/>
          </a:prstGeom>
          <a:solidFill>
            <a:srgbClr val="2e8b4a"/>
          </a:solidFill>
          <a:ln w="12700">
            <a:solidFill>
              <a:srgbClr val="2e8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Text 12"/>
          <p:cNvSpPr/>
          <p:nvPr/>
        </p:nvSpPr>
        <p:spPr>
          <a:xfrm>
            <a:off x="365760" y="2240280"/>
            <a:ext cx="6854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13"/>
          <p:cNvSpPr/>
          <p:nvPr/>
        </p:nvSpPr>
        <p:spPr>
          <a:xfrm>
            <a:off x="1143000" y="2286000"/>
            <a:ext cx="32457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74151"/>
                </a:solidFill>
                <a:latin typeface="Calibri"/>
                <a:ea typeface="Calibri"/>
              </a:rPr>
              <a:t>Архитектура и база данни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14"/>
          <p:cNvSpPr/>
          <p:nvPr/>
        </p:nvSpPr>
        <p:spPr>
          <a:xfrm>
            <a:off x="4846320" y="2240280"/>
            <a:ext cx="4114440" cy="868320"/>
          </a:xfrm>
          <a:prstGeom prst="rect">
            <a:avLst/>
          </a:prstGeom>
          <a:solidFill>
            <a:srgbClr val="eaf5ec"/>
          </a:solidFill>
          <a:ln w="12700">
            <a:solidFill>
              <a:srgbClr val="c8e6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" name="Shape 15"/>
          <p:cNvSpPr/>
          <p:nvPr/>
        </p:nvSpPr>
        <p:spPr>
          <a:xfrm>
            <a:off x="4846320" y="2240280"/>
            <a:ext cx="685440" cy="868320"/>
          </a:xfrm>
          <a:prstGeom prst="rect">
            <a:avLst/>
          </a:prstGeom>
          <a:solidFill>
            <a:srgbClr val="2e8b4a"/>
          </a:solidFill>
          <a:ln w="12700">
            <a:solidFill>
              <a:srgbClr val="2e8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Text 16"/>
          <p:cNvSpPr/>
          <p:nvPr/>
        </p:nvSpPr>
        <p:spPr>
          <a:xfrm>
            <a:off x="4846320" y="2240280"/>
            <a:ext cx="6854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17"/>
          <p:cNvSpPr/>
          <p:nvPr/>
        </p:nvSpPr>
        <p:spPr>
          <a:xfrm>
            <a:off x="5623560" y="2286000"/>
            <a:ext cx="32457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74151"/>
                </a:solidFill>
                <a:latin typeface="Calibri"/>
                <a:ea typeface="Calibri"/>
              </a:rPr>
              <a:t>Функционалност на сайта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18"/>
          <p:cNvSpPr/>
          <p:nvPr/>
        </p:nvSpPr>
        <p:spPr>
          <a:xfrm>
            <a:off x="365760" y="3337560"/>
            <a:ext cx="4114440" cy="868320"/>
          </a:xfrm>
          <a:prstGeom prst="rect">
            <a:avLst/>
          </a:prstGeom>
          <a:solidFill>
            <a:srgbClr val="eaf5ec"/>
          </a:solidFill>
          <a:ln w="12700">
            <a:solidFill>
              <a:srgbClr val="c8e6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Shape 19"/>
          <p:cNvSpPr/>
          <p:nvPr/>
        </p:nvSpPr>
        <p:spPr>
          <a:xfrm>
            <a:off x="365760" y="3337560"/>
            <a:ext cx="685440" cy="868320"/>
          </a:xfrm>
          <a:prstGeom prst="rect">
            <a:avLst/>
          </a:prstGeom>
          <a:solidFill>
            <a:srgbClr val="2e8b4a"/>
          </a:solidFill>
          <a:ln w="12700">
            <a:solidFill>
              <a:srgbClr val="2e8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Text 20"/>
          <p:cNvSpPr/>
          <p:nvPr/>
        </p:nvSpPr>
        <p:spPr>
          <a:xfrm>
            <a:off x="365760" y="3337560"/>
            <a:ext cx="6854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05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21"/>
          <p:cNvSpPr/>
          <p:nvPr/>
        </p:nvSpPr>
        <p:spPr>
          <a:xfrm>
            <a:off x="1143000" y="3383280"/>
            <a:ext cx="32457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74151"/>
                </a:solidFill>
                <a:latin typeface="Calibri"/>
                <a:ea typeface="Calibri"/>
              </a:rPr>
              <a:t>Демонстрация на сайта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22"/>
          <p:cNvSpPr/>
          <p:nvPr/>
        </p:nvSpPr>
        <p:spPr>
          <a:xfrm>
            <a:off x="4846320" y="3337560"/>
            <a:ext cx="4114440" cy="868320"/>
          </a:xfrm>
          <a:prstGeom prst="rect">
            <a:avLst/>
          </a:prstGeom>
          <a:solidFill>
            <a:srgbClr val="eaf5ec"/>
          </a:solidFill>
          <a:ln w="12700">
            <a:solidFill>
              <a:srgbClr val="c8e6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Shape 23"/>
          <p:cNvSpPr/>
          <p:nvPr/>
        </p:nvSpPr>
        <p:spPr>
          <a:xfrm>
            <a:off x="4846320" y="3337560"/>
            <a:ext cx="685440" cy="868320"/>
          </a:xfrm>
          <a:prstGeom prst="rect">
            <a:avLst/>
          </a:prstGeom>
          <a:solidFill>
            <a:srgbClr val="2e8b4a"/>
          </a:solidFill>
          <a:ln w="12700">
            <a:solidFill>
              <a:srgbClr val="2e8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Text 24"/>
          <p:cNvSpPr/>
          <p:nvPr/>
        </p:nvSpPr>
        <p:spPr>
          <a:xfrm>
            <a:off x="4846320" y="3337560"/>
            <a:ext cx="6854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06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25"/>
          <p:cNvSpPr/>
          <p:nvPr/>
        </p:nvSpPr>
        <p:spPr>
          <a:xfrm>
            <a:off x="5623560" y="3383280"/>
            <a:ext cx="32457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74151"/>
                </a:solidFill>
                <a:latin typeface="Calibri"/>
                <a:ea typeface="Calibri"/>
              </a:rPr>
              <a:t>Административен панел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Rectangle 27"/>
          <p:cNvSpPr/>
          <p:nvPr/>
        </p:nvSpPr>
        <p:spPr>
          <a:xfrm>
            <a:off x="365760" y="4434840"/>
            <a:ext cx="685440" cy="868320"/>
          </a:xfrm>
          <a:prstGeom prst="rect">
            <a:avLst/>
          </a:prstGeom>
          <a:solidFill>
            <a:srgbClr val="287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07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Box 28"/>
          <p:cNvSpPr/>
          <p:nvPr/>
        </p:nvSpPr>
        <p:spPr>
          <a:xfrm>
            <a:off x="1143000" y="4480560"/>
            <a:ext cx="32457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2e"/>
                </a:solidFill>
                <a:latin typeface="Calibri"/>
              </a:rPr>
              <a:t>Тестване и валидация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Rectangle 29"/>
          <p:cNvSpPr/>
          <p:nvPr/>
        </p:nvSpPr>
        <p:spPr>
          <a:xfrm>
            <a:off x="4846320" y="4434840"/>
            <a:ext cx="685440" cy="868320"/>
          </a:xfrm>
          <a:prstGeom prst="rect">
            <a:avLst/>
          </a:prstGeom>
          <a:solidFill>
            <a:srgbClr val="287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08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Box 30"/>
          <p:cNvSpPr/>
          <p:nvPr/>
        </p:nvSpPr>
        <p:spPr>
          <a:xfrm>
            <a:off x="5623560" y="4480560"/>
            <a:ext cx="32457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2e"/>
                </a:solidFill>
                <a:latin typeface="Calibri"/>
              </a:rPr>
              <a:t>Изводи и заключение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1b6b2f"/>
          </a:solidFill>
          <a:ln w="12700">
            <a:solidFill>
              <a:srgbClr val="1b6b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" name="Text 1"/>
          <p:cNvSpPr/>
          <p:nvPr/>
        </p:nvSpPr>
        <p:spPr>
          <a:xfrm>
            <a:off x="365760" y="22860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6b2f"/>
                </a:solidFill>
                <a:latin typeface="Calibri"/>
                <a:ea typeface="Calibri"/>
              </a:rPr>
              <a:t>Увод — Проблемът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2"/>
          <p:cNvSpPr/>
          <p:nvPr/>
        </p:nvSpPr>
        <p:spPr>
          <a:xfrm>
            <a:off x="365760" y="1005840"/>
            <a:ext cx="4023000" cy="35658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cc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" name="Text 3"/>
          <p:cNvSpPr/>
          <p:nvPr/>
        </p:nvSpPr>
        <p:spPr>
          <a:xfrm>
            <a:off x="457200" y="109728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65100"/>
                </a:solidFill>
                <a:latin typeface="Calibri"/>
                <a:ea typeface="Calibri"/>
              </a:rPr>
              <a:t>Проблемът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4"/>
          <p:cNvSpPr/>
          <p:nvPr/>
        </p:nvSpPr>
        <p:spPr>
          <a:xfrm>
            <a:off x="457200" y="1508760"/>
            <a:ext cx="384012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300" spc="-1" strike="noStrike">
                <a:solidFill>
                  <a:srgbClr val="374151"/>
                </a:solidFill>
                <a:latin typeface="Calibri"/>
                <a:ea typeface="Calibri"/>
              </a:rPr>
              <a:t>Магазин 'ФлораСтил' разчиташе само на физически продажби и телефонни поръчки.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300" spc="-1" strike="noStrike">
                <a:solidFill>
                  <a:srgbClr val="374151"/>
                </a:solidFill>
                <a:latin typeface="Calibri"/>
                <a:ea typeface="Calibri"/>
              </a:rPr>
              <a:t>❌  </a:t>
            </a:r>
            <a:r>
              <a:rPr b="0" lang="en-US" sz="1300" spc="-1" strike="noStrike">
                <a:solidFill>
                  <a:srgbClr val="374151"/>
                </a:solidFill>
                <a:latin typeface="Calibri"/>
                <a:ea typeface="Calibri"/>
              </a:rPr>
              <a:t>Клиентите не виждат целия каталог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300" spc="-1" strike="noStrike">
                <a:solidFill>
                  <a:srgbClr val="374151"/>
                </a:solidFill>
                <a:latin typeface="Calibri"/>
                <a:ea typeface="Calibri"/>
              </a:rPr>
              <a:t>❌  </a:t>
            </a:r>
            <a:r>
              <a:rPr b="0" lang="en-US" sz="1300" spc="-1" strike="noStrike">
                <a:solidFill>
                  <a:srgbClr val="374151"/>
                </a:solidFill>
                <a:latin typeface="Calibri"/>
                <a:ea typeface="Calibri"/>
              </a:rPr>
              <a:t>Устна информация → грешки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300" spc="-1" strike="noStrike">
                <a:solidFill>
                  <a:srgbClr val="374151"/>
                </a:solidFill>
                <a:latin typeface="Calibri"/>
                <a:ea typeface="Calibri"/>
              </a:rPr>
              <a:t>❌  </a:t>
            </a:r>
            <a:r>
              <a:rPr b="0" lang="en-US" sz="1300" spc="-1" strike="noStrike">
                <a:solidFill>
                  <a:srgbClr val="374151"/>
                </a:solidFill>
                <a:latin typeface="Calibri"/>
                <a:ea typeface="Calibri"/>
              </a:rPr>
              <a:t>Няма история на поръчките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74151"/>
                </a:solidFill>
                <a:latin typeface="Calibri"/>
                <a:ea typeface="Calibri"/>
              </a:rPr>
              <a:t>❌  </a:t>
            </a:r>
            <a:r>
              <a:rPr b="0" lang="en-US" sz="1300" spc="-1" strike="noStrike">
                <a:solidFill>
                  <a:srgbClr val="374151"/>
                </a:solidFill>
                <a:latin typeface="Calibri"/>
                <a:ea typeface="Calibri"/>
              </a:rPr>
              <a:t>Без онлайн присъствие 24/7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5"/>
          <p:cNvSpPr/>
          <p:nvPr/>
        </p:nvSpPr>
        <p:spPr>
          <a:xfrm>
            <a:off x="4663440" y="1005840"/>
            <a:ext cx="4114440" cy="3565800"/>
          </a:xfrm>
          <a:prstGeom prst="rect">
            <a:avLst/>
          </a:prstGeom>
          <a:solidFill>
            <a:srgbClr val="eaf5ec"/>
          </a:solidFill>
          <a:ln w="12700">
            <a:solidFill>
              <a:srgbClr val="a5d6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Text 6"/>
          <p:cNvSpPr/>
          <p:nvPr/>
        </p:nvSpPr>
        <p:spPr>
          <a:xfrm>
            <a:off x="4754880" y="109728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b6b2f"/>
                </a:solidFill>
                <a:latin typeface="Calibri"/>
                <a:ea typeface="Calibri"/>
              </a:rPr>
              <a:t>Решението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7"/>
          <p:cNvSpPr/>
          <p:nvPr/>
        </p:nvSpPr>
        <p:spPr>
          <a:xfrm>
            <a:off x="4754880" y="1508760"/>
            <a:ext cx="384012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300" spc="-1" strike="noStrike">
                <a:solidFill>
                  <a:srgbClr val="374151"/>
                </a:solidFill>
                <a:latin typeface="Calibri"/>
                <a:ea typeface="Calibri"/>
              </a:rPr>
              <a:t>Разработване на пълноценен уеб сайт за електронна търговия.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300" spc="-1" strike="noStrike">
                <a:solidFill>
                  <a:srgbClr val="374151"/>
                </a:solidFill>
                <a:latin typeface="Calibri"/>
                <a:ea typeface="Calibri"/>
              </a:rPr>
              <a:t>✅  </a:t>
            </a:r>
            <a:r>
              <a:rPr b="0" lang="en-US" sz="1300" spc="-1" strike="noStrike">
                <a:solidFill>
                  <a:srgbClr val="374151"/>
                </a:solidFill>
                <a:latin typeface="Calibri"/>
                <a:ea typeface="Calibri"/>
              </a:rPr>
              <a:t>Онлайн каталог с актуални цени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300" spc="-1" strike="noStrike">
                <a:solidFill>
                  <a:srgbClr val="374151"/>
                </a:solidFill>
                <a:latin typeface="Calibri"/>
                <a:ea typeface="Calibri"/>
              </a:rPr>
              <a:t>✅  </a:t>
            </a:r>
            <a:r>
              <a:rPr b="0" lang="en-US" sz="1300" spc="-1" strike="noStrike">
                <a:solidFill>
                  <a:srgbClr val="374151"/>
                </a:solidFill>
                <a:latin typeface="Calibri"/>
                <a:ea typeface="Calibri"/>
              </a:rPr>
              <a:t>Поръчка с доставка 24/7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300" spc="-1" strike="noStrike">
                <a:solidFill>
                  <a:srgbClr val="374151"/>
                </a:solidFill>
                <a:latin typeface="Calibri"/>
                <a:ea typeface="Calibri"/>
              </a:rPr>
              <a:t>✅  </a:t>
            </a:r>
            <a:r>
              <a:rPr b="0" lang="en-US" sz="1300" spc="-1" strike="noStrike">
                <a:solidFill>
                  <a:srgbClr val="374151"/>
                </a:solidFill>
                <a:latin typeface="Calibri"/>
                <a:ea typeface="Calibri"/>
              </a:rPr>
              <a:t>База данни с история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74151"/>
                </a:solidFill>
                <a:latin typeface="Calibri"/>
                <a:ea typeface="Calibri"/>
              </a:rPr>
              <a:t>✅  </a:t>
            </a:r>
            <a:r>
              <a:rPr b="0" lang="en-US" sz="1300" spc="-1" strike="noStrike">
                <a:solidFill>
                  <a:srgbClr val="374151"/>
                </a:solidFill>
                <a:latin typeface="Calibri"/>
                <a:ea typeface="Calibri"/>
              </a:rPr>
              <a:t>Административен панел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6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0"/>
          <p:cNvSpPr/>
          <p:nvPr/>
        </p:nvSpPr>
        <p:spPr>
          <a:xfrm>
            <a:off x="0" y="4389120"/>
            <a:ext cx="9143640" cy="754200"/>
          </a:xfrm>
          <a:prstGeom prst="rect">
            <a:avLst/>
          </a:prstGeom>
          <a:solidFill>
            <a:srgbClr val="2e8b4a"/>
          </a:solidFill>
          <a:ln w="12700">
            <a:solidFill>
              <a:srgbClr val="2e8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Text 1"/>
          <p:cNvSpPr/>
          <p:nvPr/>
        </p:nvSpPr>
        <p:spPr>
          <a:xfrm>
            <a:off x="457200" y="18288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  <a:ea typeface="Calibri"/>
              </a:rPr>
              <a:t>Цел на проекта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2"/>
          <p:cNvSpPr/>
          <p:nvPr/>
        </p:nvSpPr>
        <p:spPr>
          <a:xfrm>
            <a:off x="457200" y="868680"/>
            <a:ext cx="8229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a7d7b0"/>
                </a:solidFill>
                <a:latin typeface="Calibri"/>
                <a:ea typeface="Calibri"/>
              </a:rPr>
              <a:t>Разработване на функционален уеб сайт за онлайн магазин FloraStil с трислойна архитектура, позволяващ управление на продукти, категории и поръчки.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Shape 3"/>
          <p:cNvSpPr/>
          <p:nvPr/>
        </p:nvSpPr>
        <p:spPr>
          <a:xfrm>
            <a:off x="365760" y="1874520"/>
            <a:ext cx="4114440" cy="65808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Text 4"/>
          <p:cNvSpPr/>
          <p:nvPr/>
        </p:nvSpPr>
        <p:spPr>
          <a:xfrm>
            <a:off x="475560" y="1920240"/>
            <a:ext cx="3931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b6b2f"/>
                </a:solidFill>
                <a:latin typeface="Calibri"/>
                <a:ea typeface="Calibri"/>
              </a:rPr>
              <a:t>1. Анализ на нуждите и конкурентна среда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Shape 5"/>
          <p:cNvSpPr/>
          <p:nvPr/>
        </p:nvSpPr>
        <p:spPr>
          <a:xfrm>
            <a:off x="4846320" y="1874520"/>
            <a:ext cx="4114440" cy="65808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Text 6"/>
          <p:cNvSpPr/>
          <p:nvPr/>
        </p:nvSpPr>
        <p:spPr>
          <a:xfrm>
            <a:off x="4956120" y="1920240"/>
            <a:ext cx="3931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b6b2f"/>
                </a:solidFill>
                <a:latin typeface="Calibri"/>
                <a:ea typeface="Calibri"/>
              </a:rPr>
              <a:t>2. Проектиране на навигация и база данни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Shape 7"/>
          <p:cNvSpPr/>
          <p:nvPr/>
        </p:nvSpPr>
        <p:spPr>
          <a:xfrm>
            <a:off x="365760" y="2651760"/>
            <a:ext cx="4114440" cy="65808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Text 8"/>
          <p:cNvSpPr/>
          <p:nvPr/>
        </p:nvSpPr>
        <p:spPr>
          <a:xfrm>
            <a:off x="475560" y="2697480"/>
            <a:ext cx="3931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b6b2f"/>
                </a:solidFill>
                <a:latin typeface="Calibri"/>
                <a:ea typeface="Calibri"/>
              </a:rPr>
              <a:t>3. Избор на технологии: Python, Flask, MySQL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Shape 9"/>
          <p:cNvSpPr/>
          <p:nvPr/>
        </p:nvSpPr>
        <p:spPr>
          <a:xfrm>
            <a:off x="4846320" y="2651760"/>
            <a:ext cx="4114440" cy="65808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Text 10"/>
          <p:cNvSpPr/>
          <p:nvPr/>
        </p:nvSpPr>
        <p:spPr>
          <a:xfrm>
            <a:off x="4956120" y="2697480"/>
            <a:ext cx="3931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b6b2f"/>
                </a:solidFill>
                <a:latin typeface="Calibri"/>
                <a:ea typeface="Calibri"/>
              </a:rPr>
              <a:t>4. Реализация на публичен сайт + админ панел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Shape 11"/>
          <p:cNvSpPr/>
          <p:nvPr/>
        </p:nvSpPr>
        <p:spPr>
          <a:xfrm>
            <a:off x="365760" y="3429000"/>
            <a:ext cx="4114440" cy="65808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Text 12"/>
          <p:cNvSpPr/>
          <p:nvPr/>
        </p:nvSpPr>
        <p:spPr>
          <a:xfrm>
            <a:off x="475560" y="3474720"/>
            <a:ext cx="3931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b6b2f"/>
                </a:solidFill>
                <a:latin typeface="Calibri"/>
                <a:ea typeface="Calibri"/>
              </a:rPr>
              <a:t>5. Функционално тестване и оптимизация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Shape 13"/>
          <p:cNvSpPr/>
          <p:nvPr/>
        </p:nvSpPr>
        <p:spPr>
          <a:xfrm>
            <a:off x="4846320" y="3429000"/>
            <a:ext cx="4114440" cy="65808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Text 14"/>
          <p:cNvSpPr/>
          <p:nvPr/>
        </p:nvSpPr>
        <p:spPr>
          <a:xfrm>
            <a:off x="4956120" y="3474720"/>
            <a:ext cx="3931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b6b2f"/>
                </a:solidFill>
                <a:latin typeface="Calibri"/>
                <a:ea typeface="Calibri"/>
              </a:rPr>
              <a:t>6. Документиране и подготовка за представяне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1b6b2f"/>
          </a:solidFill>
          <a:ln w="12700">
            <a:solidFill>
              <a:srgbClr val="1b6b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Text 1"/>
          <p:cNvSpPr/>
          <p:nvPr/>
        </p:nvSpPr>
        <p:spPr>
          <a:xfrm>
            <a:off x="365760" y="22860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6b2f"/>
                </a:solidFill>
                <a:latin typeface="Calibri"/>
                <a:ea typeface="Calibri"/>
              </a:rPr>
              <a:t>Технологичен стек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2"/>
          <p:cNvSpPr/>
          <p:nvPr/>
        </p:nvSpPr>
        <p:spPr>
          <a:xfrm>
            <a:off x="365760" y="1005840"/>
            <a:ext cx="2651400" cy="1645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Shape 3"/>
          <p:cNvSpPr/>
          <p:nvPr/>
        </p:nvSpPr>
        <p:spPr>
          <a:xfrm>
            <a:off x="365760" y="1005840"/>
            <a:ext cx="2651400" cy="16416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Text 4"/>
          <p:cNvSpPr/>
          <p:nvPr/>
        </p:nvSpPr>
        <p:spPr>
          <a:xfrm>
            <a:off x="365760" y="1207080"/>
            <a:ext cx="2651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🌐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5"/>
          <p:cNvSpPr/>
          <p:nvPr/>
        </p:nvSpPr>
        <p:spPr>
          <a:xfrm>
            <a:off x="457200" y="1783080"/>
            <a:ext cx="2468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64a19"/>
                </a:solidFill>
                <a:latin typeface="Calibri"/>
                <a:ea typeface="Calibri"/>
              </a:rPr>
              <a:t>HTML5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6"/>
          <p:cNvSpPr/>
          <p:nvPr/>
        </p:nvSpPr>
        <p:spPr>
          <a:xfrm>
            <a:off x="457200" y="2130480"/>
            <a:ext cx="2468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7280"/>
                </a:solidFill>
                <a:latin typeface="Calibri"/>
                <a:ea typeface="Calibri"/>
              </a:rPr>
              <a:t>Структура на страниците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7"/>
          <p:cNvSpPr/>
          <p:nvPr/>
        </p:nvSpPr>
        <p:spPr>
          <a:xfrm>
            <a:off x="3246120" y="1005840"/>
            <a:ext cx="2651400" cy="1645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" name="Shape 8"/>
          <p:cNvSpPr/>
          <p:nvPr/>
        </p:nvSpPr>
        <p:spPr>
          <a:xfrm>
            <a:off x="3246120" y="1005840"/>
            <a:ext cx="2651400" cy="1641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" name="Text 9"/>
          <p:cNvSpPr/>
          <p:nvPr/>
        </p:nvSpPr>
        <p:spPr>
          <a:xfrm>
            <a:off x="3246120" y="1207080"/>
            <a:ext cx="2651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🎨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10"/>
          <p:cNvSpPr/>
          <p:nvPr/>
        </p:nvSpPr>
        <p:spPr>
          <a:xfrm>
            <a:off x="3337560" y="1783080"/>
            <a:ext cx="2468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565c0"/>
                </a:solidFill>
                <a:latin typeface="Calibri"/>
                <a:ea typeface="Calibri"/>
              </a:rPr>
              <a:t>CSS3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11"/>
          <p:cNvSpPr/>
          <p:nvPr/>
        </p:nvSpPr>
        <p:spPr>
          <a:xfrm>
            <a:off x="3337560" y="2130480"/>
            <a:ext cx="2468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7280"/>
                </a:solidFill>
                <a:latin typeface="Calibri"/>
                <a:ea typeface="Calibri"/>
              </a:rPr>
              <a:t>Визуален дизайн и responsive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12"/>
          <p:cNvSpPr/>
          <p:nvPr/>
        </p:nvSpPr>
        <p:spPr>
          <a:xfrm>
            <a:off x="6126480" y="1005840"/>
            <a:ext cx="2651400" cy="1645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" name="Shape 13"/>
          <p:cNvSpPr/>
          <p:nvPr/>
        </p:nvSpPr>
        <p:spPr>
          <a:xfrm>
            <a:off x="6126480" y="1005840"/>
            <a:ext cx="2651400" cy="16416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" name="Text 14"/>
          <p:cNvSpPr/>
          <p:nvPr/>
        </p:nvSpPr>
        <p:spPr>
          <a:xfrm>
            <a:off x="6126480" y="1207080"/>
            <a:ext cx="2651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⚡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15"/>
          <p:cNvSpPr/>
          <p:nvPr/>
        </p:nvSpPr>
        <p:spPr>
          <a:xfrm>
            <a:off x="6217920" y="1783080"/>
            <a:ext cx="2468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57f17"/>
                </a:solidFill>
                <a:latin typeface="Calibri"/>
                <a:ea typeface="Calibri"/>
              </a:rPr>
              <a:t>JavaScript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16"/>
          <p:cNvSpPr/>
          <p:nvPr/>
        </p:nvSpPr>
        <p:spPr>
          <a:xfrm>
            <a:off x="6217920" y="2130480"/>
            <a:ext cx="2468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7280"/>
                </a:solidFill>
                <a:latin typeface="Calibri"/>
                <a:ea typeface="Calibri"/>
              </a:rPr>
              <a:t>Интерактивност и AJAX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17"/>
          <p:cNvSpPr/>
          <p:nvPr/>
        </p:nvSpPr>
        <p:spPr>
          <a:xfrm>
            <a:off x="365760" y="2880360"/>
            <a:ext cx="2651400" cy="1645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" name="Shape 18"/>
          <p:cNvSpPr/>
          <p:nvPr/>
        </p:nvSpPr>
        <p:spPr>
          <a:xfrm>
            <a:off x="365760" y="2880360"/>
            <a:ext cx="2651400" cy="1641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1" name="Text 19"/>
          <p:cNvSpPr/>
          <p:nvPr/>
        </p:nvSpPr>
        <p:spPr>
          <a:xfrm>
            <a:off x="365760" y="3081600"/>
            <a:ext cx="2651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🐍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20"/>
          <p:cNvSpPr/>
          <p:nvPr/>
        </p:nvSpPr>
        <p:spPr>
          <a:xfrm>
            <a:off x="457200" y="3657600"/>
            <a:ext cx="2468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e7d32"/>
                </a:solidFill>
                <a:latin typeface="Calibri"/>
                <a:ea typeface="Calibri"/>
              </a:rPr>
              <a:t>Python + Flask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21"/>
          <p:cNvSpPr/>
          <p:nvPr/>
        </p:nvSpPr>
        <p:spPr>
          <a:xfrm>
            <a:off x="457200" y="4005000"/>
            <a:ext cx="2468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7280"/>
                </a:solidFill>
                <a:latin typeface="Calibri"/>
                <a:ea typeface="Calibri"/>
              </a:rPr>
              <a:t>Сървърна логика (back-end)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22"/>
          <p:cNvSpPr/>
          <p:nvPr/>
        </p:nvSpPr>
        <p:spPr>
          <a:xfrm>
            <a:off x="3246120" y="2880360"/>
            <a:ext cx="2651400" cy="1645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5" name="Shape 23"/>
          <p:cNvSpPr/>
          <p:nvPr/>
        </p:nvSpPr>
        <p:spPr>
          <a:xfrm>
            <a:off x="3246120" y="2880360"/>
            <a:ext cx="2651400" cy="1641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6" name="Text 24"/>
          <p:cNvSpPr/>
          <p:nvPr/>
        </p:nvSpPr>
        <p:spPr>
          <a:xfrm>
            <a:off x="3246120" y="3081600"/>
            <a:ext cx="2651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🗄️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25"/>
          <p:cNvSpPr/>
          <p:nvPr/>
        </p:nvSpPr>
        <p:spPr>
          <a:xfrm>
            <a:off x="3337560" y="3657600"/>
            <a:ext cx="2468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695c"/>
                </a:solidFill>
                <a:latin typeface="Calibri"/>
                <a:ea typeface="Calibri"/>
              </a:rPr>
              <a:t>MySQL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26"/>
          <p:cNvSpPr/>
          <p:nvPr/>
        </p:nvSpPr>
        <p:spPr>
          <a:xfrm>
            <a:off x="3337560" y="4005000"/>
            <a:ext cx="2468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7280"/>
                </a:solidFill>
                <a:latin typeface="Calibri"/>
                <a:ea typeface="Calibri"/>
              </a:rPr>
              <a:t>Релационна база данни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27"/>
          <p:cNvSpPr/>
          <p:nvPr/>
        </p:nvSpPr>
        <p:spPr>
          <a:xfrm>
            <a:off x="6126480" y="2880360"/>
            <a:ext cx="2651400" cy="1645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0" name="Shape 28"/>
          <p:cNvSpPr/>
          <p:nvPr/>
        </p:nvSpPr>
        <p:spPr>
          <a:xfrm>
            <a:off x="6126480" y="2880360"/>
            <a:ext cx="2651400" cy="164160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1" name="Text 29"/>
          <p:cNvSpPr/>
          <p:nvPr/>
        </p:nvSpPr>
        <p:spPr>
          <a:xfrm>
            <a:off x="6126480" y="3081600"/>
            <a:ext cx="2651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📝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30"/>
          <p:cNvSpPr/>
          <p:nvPr/>
        </p:nvSpPr>
        <p:spPr>
          <a:xfrm>
            <a:off x="6217920" y="3657600"/>
            <a:ext cx="2468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5e35b1"/>
                </a:solidFill>
                <a:latin typeface="Calibri"/>
                <a:ea typeface="Calibri"/>
              </a:rPr>
              <a:t>VS Code + Git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31"/>
          <p:cNvSpPr/>
          <p:nvPr/>
        </p:nvSpPr>
        <p:spPr>
          <a:xfrm>
            <a:off x="6217920" y="4005000"/>
            <a:ext cx="2468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7280"/>
                </a:solidFill>
                <a:latin typeface="Calibri"/>
                <a:ea typeface="Calibri"/>
              </a:rPr>
              <a:t>IDE и версионен контрол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1b6b2f"/>
          </a:solidFill>
          <a:ln w="12700">
            <a:solidFill>
              <a:srgbClr val="1b6b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5" name="Text 1"/>
          <p:cNvSpPr/>
          <p:nvPr/>
        </p:nvSpPr>
        <p:spPr>
          <a:xfrm>
            <a:off x="365760" y="22860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6b2f"/>
                </a:solidFill>
                <a:latin typeface="Calibri"/>
                <a:ea typeface="Calibri"/>
              </a:rPr>
              <a:t>Трислойна архитектура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2"/>
          <p:cNvSpPr/>
          <p:nvPr/>
        </p:nvSpPr>
        <p:spPr>
          <a:xfrm>
            <a:off x="1828800" y="1051560"/>
            <a:ext cx="5486040" cy="1005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7" name="Text 3"/>
          <p:cNvSpPr/>
          <p:nvPr/>
        </p:nvSpPr>
        <p:spPr>
          <a:xfrm>
            <a:off x="1920240" y="1106280"/>
            <a:ext cx="5303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Презентационен слой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4"/>
          <p:cNvSpPr/>
          <p:nvPr/>
        </p:nvSpPr>
        <p:spPr>
          <a:xfrm>
            <a:off x="1920240" y="1490400"/>
            <a:ext cx="53031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8f5e9"/>
                </a:solidFill>
                <a:latin typeface="Calibri"/>
                <a:ea typeface="Calibri"/>
              </a:rPr>
              <a:t>HTML • CSS • JavaScript  —  Потребителски интерфейс, responsive дизайн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5"/>
          <p:cNvSpPr/>
          <p:nvPr/>
        </p:nvSpPr>
        <p:spPr>
          <a:xfrm>
            <a:off x="4480560" y="2057400"/>
            <a:ext cx="182520" cy="25560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0" name="Shape 6"/>
          <p:cNvSpPr/>
          <p:nvPr/>
        </p:nvSpPr>
        <p:spPr>
          <a:xfrm>
            <a:off x="1828800" y="2286000"/>
            <a:ext cx="5486040" cy="1005480"/>
          </a:xfrm>
          <a:prstGeom prst="rect">
            <a:avLst/>
          </a:prstGeom>
          <a:solidFill>
            <a:srgbClr val="2e8b4a"/>
          </a:solidFill>
          <a:ln w="12700">
            <a:solidFill>
              <a:srgbClr val="2e8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1" name="Text 7"/>
          <p:cNvSpPr/>
          <p:nvPr/>
        </p:nvSpPr>
        <p:spPr>
          <a:xfrm>
            <a:off x="1920240" y="2340720"/>
            <a:ext cx="5303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Логически слой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8"/>
          <p:cNvSpPr/>
          <p:nvPr/>
        </p:nvSpPr>
        <p:spPr>
          <a:xfrm>
            <a:off x="1920240" y="2724840"/>
            <a:ext cx="53031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8f5e9"/>
                </a:solidFill>
                <a:latin typeface="Calibri"/>
                <a:ea typeface="Calibri"/>
              </a:rPr>
              <a:t>Python + Flask  —  Бизнес логика, routing, сесии, валидация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9"/>
          <p:cNvSpPr/>
          <p:nvPr/>
        </p:nvSpPr>
        <p:spPr>
          <a:xfrm>
            <a:off x="4480560" y="3291840"/>
            <a:ext cx="182520" cy="25560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4" name="Shape 10"/>
          <p:cNvSpPr/>
          <p:nvPr/>
        </p:nvSpPr>
        <p:spPr>
          <a:xfrm>
            <a:off x="1828800" y="3520440"/>
            <a:ext cx="5486040" cy="100548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5" name="Text 11"/>
          <p:cNvSpPr/>
          <p:nvPr/>
        </p:nvSpPr>
        <p:spPr>
          <a:xfrm>
            <a:off x="1920240" y="3575160"/>
            <a:ext cx="5303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Слой за данни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12"/>
          <p:cNvSpPr/>
          <p:nvPr/>
        </p:nvSpPr>
        <p:spPr>
          <a:xfrm>
            <a:off x="1920240" y="3959280"/>
            <a:ext cx="53031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8f5e9"/>
                </a:solidFill>
                <a:latin typeface="Calibri"/>
                <a:ea typeface="Calibri"/>
              </a:rPr>
              <a:t>MySQL  —  Съхранение: products, orders, users, payments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13"/>
          <p:cNvSpPr/>
          <p:nvPr/>
        </p:nvSpPr>
        <p:spPr>
          <a:xfrm>
            <a:off x="228600" y="224028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HTTP заявки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14"/>
          <p:cNvSpPr/>
          <p:nvPr/>
        </p:nvSpPr>
        <p:spPr>
          <a:xfrm>
            <a:off x="822960" y="1554480"/>
            <a:ext cx="45360" cy="201132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9" name="Text 15"/>
          <p:cNvSpPr/>
          <p:nvPr/>
        </p:nvSpPr>
        <p:spPr>
          <a:xfrm>
            <a:off x="7452360" y="224028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SQL заявки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16"/>
          <p:cNvSpPr/>
          <p:nvPr/>
        </p:nvSpPr>
        <p:spPr>
          <a:xfrm>
            <a:off x="8275320" y="1554480"/>
            <a:ext cx="45360" cy="201132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1b6b2f"/>
          </a:solidFill>
          <a:ln w="12700">
            <a:solidFill>
              <a:srgbClr val="1b6b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2" name="Text 1"/>
          <p:cNvSpPr/>
          <p:nvPr/>
        </p:nvSpPr>
        <p:spPr>
          <a:xfrm>
            <a:off x="365760" y="22860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6b2f"/>
                </a:solidFill>
                <a:latin typeface="Calibri"/>
                <a:ea typeface="Calibri"/>
              </a:rPr>
              <a:t>База от данни — ER модел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2"/>
          <p:cNvSpPr/>
          <p:nvPr/>
        </p:nvSpPr>
        <p:spPr>
          <a:xfrm>
            <a:off x="365760" y="1051560"/>
            <a:ext cx="2377080" cy="347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4" name="Text 3"/>
          <p:cNvSpPr/>
          <p:nvPr/>
        </p:nvSpPr>
        <p:spPr>
          <a:xfrm>
            <a:off x="365760" y="1051560"/>
            <a:ext cx="2377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categories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4"/>
          <p:cNvSpPr/>
          <p:nvPr/>
        </p:nvSpPr>
        <p:spPr>
          <a:xfrm>
            <a:off x="365760" y="1398960"/>
            <a:ext cx="2377080" cy="2556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6" name="Text 5"/>
          <p:cNvSpPr/>
          <p:nvPr/>
        </p:nvSpPr>
        <p:spPr>
          <a:xfrm>
            <a:off x="457200" y="1417320"/>
            <a:ext cx="2194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151"/>
                </a:solidFill>
                <a:latin typeface="Calibri"/>
                <a:ea typeface="Calibri"/>
              </a:rPr>
              <a:t>category_id (PK)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6"/>
          <p:cNvSpPr/>
          <p:nvPr/>
        </p:nvSpPr>
        <p:spPr>
          <a:xfrm>
            <a:off x="365760" y="1654920"/>
            <a:ext cx="2377080" cy="255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8" name="Text 7"/>
          <p:cNvSpPr/>
          <p:nvPr/>
        </p:nvSpPr>
        <p:spPr>
          <a:xfrm>
            <a:off x="457200" y="1673280"/>
            <a:ext cx="2194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151"/>
                </a:solidFill>
                <a:latin typeface="Calibri"/>
                <a:ea typeface="Calibri"/>
              </a:rPr>
              <a:t>name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8"/>
          <p:cNvSpPr/>
          <p:nvPr/>
        </p:nvSpPr>
        <p:spPr>
          <a:xfrm>
            <a:off x="365760" y="1911240"/>
            <a:ext cx="2377080" cy="2556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0" name="Text 9"/>
          <p:cNvSpPr/>
          <p:nvPr/>
        </p:nvSpPr>
        <p:spPr>
          <a:xfrm>
            <a:off x="457200" y="1929240"/>
            <a:ext cx="2194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151"/>
                </a:solidFill>
                <a:latin typeface="Calibri"/>
                <a:ea typeface="Calibri"/>
              </a:rPr>
              <a:t>slug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10"/>
          <p:cNvSpPr/>
          <p:nvPr/>
        </p:nvSpPr>
        <p:spPr>
          <a:xfrm>
            <a:off x="2743200" y="1051560"/>
            <a:ext cx="2377080" cy="347040"/>
          </a:xfrm>
          <a:prstGeom prst="rect">
            <a:avLst/>
          </a:prstGeom>
          <a:solidFill>
            <a:srgbClr val="2e8b4a"/>
          </a:solidFill>
          <a:ln w="12700">
            <a:solidFill>
              <a:srgbClr val="2e8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2" name="Text 11"/>
          <p:cNvSpPr/>
          <p:nvPr/>
        </p:nvSpPr>
        <p:spPr>
          <a:xfrm>
            <a:off x="2743200" y="1051560"/>
            <a:ext cx="2377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products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12"/>
          <p:cNvSpPr/>
          <p:nvPr/>
        </p:nvSpPr>
        <p:spPr>
          <a:xfrm>
            <a:off x="2743200" y="1398960"/>
            <a:ext cx="2377080" cy="2556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4" name="Text 13"/>
          <p:cNvSpPr/>
          <p:nvPr/>
        </p:nvSpPr>
        <p:spPr>
          <a:xfrm>
            <a:off x="2834640" y="1417320"/>
            <a:ext cx="2194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151"/>
                </a:solidFill>
                <a:latin typeface="Calibri"/>
                <a:ea typeface="Calibri"/>
              </a:rPr>
              <a:t>product_id (PK)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14"/>
          <p:cNvSpPr/>
          <p:nvPr/>
        </p:nvSpPr>
        <p:spPr>
          <a:xfrm>
            <a:off x="2743200" y="1654920"/>
            <a:ext cx="2377080" cy="255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6" name="Text 15"/>
          <p:cNvSpPr/>
          <p:nvPr/>
        </p:nvSpPr>
        <p:spPr>
          <a:xfrm>
            <a:off x="2834640" y="1673280"/>
            <a:ext cx="2194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151"/>
                </a:solidFill>
                <a:latin typeface="Calibri"/>
                <a:ea typeface="Calibri"/>
              </a:rPr>
              <a:t>name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16"/>
          <p:cNvSpPr/>
          <p:nvPr/>
        </p:nvSpPr>
        <p:spPr>
          <a:xfrm>
            <a:off x="2743200" y="1911240"/>
            <a:ext cx="2377080" cy="2556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8" name="Text 17"/>
          <p:cNvSpPr/>
          <p:nvPr/>
        </p:nvSpPr>
        <p:spPr>
          <a:xfrm>
            <a:off x="2834640" y="1929240"/>
            <a:ext cx="2194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151"/>
                </a:solidFill>
                <a:latin typeface="Calibri"/>
                <a:ea typeface="Calibri"/>
              </a:rPr>
              <a:t>price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18"/>
          <p:cNvSpPr/>
          <p:nvPr/>
        </p:nvSpPr>
        <p:spPr>
          <a:xfrm>
            <a:off x="2743200" y="2167200"/>
            <a:ext cx="2377080" cy="255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0" name="Text 19"/>
          <p:cNvSpPr/>
          <p:nvPr/>
        </p:nvSpPr>
        <p:spPr>
          <a:xfrm>
            <a:off x="2834640" y="2185560"/>
            <a:ext cx="2194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151"/>
                </a:solidFill>
                <a:latin typeface="Calibri"/>
                <a:ea typeface="Calibri"/>
              </a:rPr>
              <a:t>category_id (FK)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20"/>
          <p:cNvSpPr/>
          <p:nvPr/>
        </p:nvSpPr>
        <p:spPr>
          <a:xfrm>
            <a:off x="2743200" y="2423160"/>
            <a:ext cx="2377080" cy="2556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2" name="Text 21"/>
          <p:cNvSpPr/>
          <p:nvPr/>
        </p:nvSpPr>
        <p:spPr>
          <a:xfrm>
            <a:off x="2834640" y="2441520"/>
            <a:ext cx="2194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151"/>
                </a:solidFill>
                <a:latin typeface="Calibri"/>
                <a:ea typeface="Calibri"/>
              </a:rPr>
              <a:t>image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22"/>
          <p:cNvSpPr/>
          <p:nvPr/>
        </p:nvSpPr>
        <p:spPr>
          <a:xfrm>
            <a:off x="2743200" y="2679120"/>
            <a:ext cx="2377080" cy="255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4" name="Text 23"/>
          <p:cNvSpPr/>
          <p:nvPr/>
        </p:nvSpPr>
        <p:spPr>
          <a:xfrm>
            <a:off x="2834640" y="2697480"/>
            <a:ext cx="2194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151"/>
                </a:solidFill>
                <a:latin typeface="Calibri"/>
                <a:ea typeface="Calibri"/>
              </a:rPr>
              <a:t>stock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24"/>
          <p:cNvSpPr/>
          <p:nvPr/>
        </p:nvSpPr>
        <p:spPr>
          <a:xfrm>
            <a:off x="5303520" y="1051560"/>
            <a:ext cx="2377080" cy="34704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6" name="Text 25"/>
          <p:cNvSpPr/>
          <p:nvPr/>
        </p:nvSpPr>
        <p:spPr>
          <a:xfrm>
            <a:off x="5303520" y="1051560"/>
            <a:ext cx="2377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orders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26"/>
          <p:cNvSpPr/>
          <p:nvPr/>
        </p:nvSpPr>
        <p:spPr>
          <a:xfrm>
            <a:off x="5303520" y="1398960"/>
            <a:ext cx="2377080" cy="2556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8" name="Text 27"/>
          <p:cNvSpPr/>
          <p:nvPr/>
        </p:nvSpPr>
        <p:spPr>
          <a:xfrm>
            <a:off x="5394960" y="1417320"/>
            <a:ext cx="2194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151"/>
                </a:solidFill>
                <a:latin typeface="Calibri"/>
                <a:ea typeface="Calibri"/>
              </a:rPr>
              <a:t>order_id (PK)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28"/>
          <p:cNvSpPr/>
          <p:nvPr/>
        </p:nvSpPr>
        <p:spPr>
          <a:xfrm>
            <a:off x="5303520" y="1654920"/>
            <a:ext cx="2377080" cy="255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0" name="Text 29"/>
          <p:cNvSpPr/>
          <p:nvPr/>
        </p:nvSpPr>
        <p:spPr>
          <a:xfrm>
            <a:off x="5394960" y="1673280"/>
            <a:ext cx="2194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151"/>
                </a:solidFill>
                <a:latin typeface="Calibri"/>
                <a:ea typeface="Calibri"/>
              </a:rPr>
              <a:t>customer_name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30"/>
          <p:cNvSpPr/>
          <p:nvPr/>
        </p:nvSpPr>
        <p:spPr>
          <a:xfrm>
            <a:off x="5303520" y="1911240"/>
            <a:ext cx="2377080" cy="2556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2" name="Text 31"/>
          <p:cNvSpPr/>
          <p:nvPr/>
        </p:nvSpPr>
        <p:spPr>
          <a:xfrm>
            <a:off x="5394960" y="1929240"/>
            <a:ext cx="2194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151"/>
                </a:solidFill>
                <a:latin typeface="Calibri"/>
                <a:ea typeface="Calibri"/>
              </a:rPr>
              <a:t>address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32"/>
          <p:cNvSpPr/>
          <p:nvPr/>
        </p:nvSpPr>
        <p:spPr>
          <a:xfrm>
            <a:off x="5303520" y="2167200"/>
            <a:ext cx="2377080" cy="255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4" name="Text 33"/>
          <p:cNvSpPr/>
          <p:nvPr/>
        </p:nvSpPr>
        <p:spPr>
          <a:xfrm>
            <a:off x="5394960" y="2185560"/>
            <a:ext cx="2194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151"/>
                </a:solidFill>
                <a:latin typeface="Calibri"/>
                <a:ea typeface="Calibri"/>
              </a:rPr>
              <a:t>datetime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34"/>
          <p:cNvSpPr/>
          <p:nvPr/>
        </p:nvSpPr>
        <p:spPr>
          <a:xfrm>
            <a:off x="5303520" y="2423160"/>
            <a:ext cx="2377080" cy="2556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6" name="Text 35"/>
          <p:cNvSpPr/>
          <p:nvPr/>
        </p:nvSpPr>
        <p:spPr>
          <a:xfrm>
            <a:off x="5394960" y="2441520"/>
            <a:ext cx="2194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151"/>
                </a:solidFill>
                <a:latin typeface="Calibri"/>
                <a:ea typeface="Calibri"/>
              </a:rPr>
              <a:t>status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36"/>
          <p:cNvSpPr/>
          <p:nvPr/>
        </p:nvSpPr>
        <p:spPr>
          <a:xfrm>
            <a:off x="5303520" y="3017520"/>
            <a:ext cx="2377080" cy="3470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8" name="Text 37"/>
          <p:cNvSpPr/>
          <p:nvPr/>
        </p:nvSpPr>
        <p:spPr>
          <a:xfrm>
            <a:off x="5303520" y="3017520"/>
            <a:ext cx="2377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order_items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38"/>
          <p:cNvSpPr/>
          <p:nvPr/>
        </p:nvSpPr>
        <p:spPr>
          <a:xfrm>
            <a:off x="5303520" y="3364920"/>
            <a:ext cx="2377080" cy="2556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0" name="Text 39"/>
          <p:cNvSpPr/>
          <p:nvPr/>
        </p:nvSpPr>
        <p:spPr>
          <a:xfrm>
            <a:off x="5394960" y="3383280"/>
            <a:ext cx="2194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151"/>
                </a:solidFill>
                <a:latin typeface="Calibri"/>
                <a:ea typeface="Calibri"/>
              </a:rPr>
              <a:t>item_id (PK)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40"/>
          <p:cNvSpPr/>
          <p:nvPr/>
        </p:nvSpPr>
        <p:spPr>
          <a:xfrm>
            <a:off x="5303520" y="3620880"/>
            <a:ext cx="2377080" cy="255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2" name="Text 41"/>
          <p:cNvSpPr/>
          <p:nvPr/>
        </p:nvSpPr>
        <p:spPr>
          <a:xfrm>
            <a:off x="5394960" y="3639240"/>
            <a:ext cx="2194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151"/>
                </a:solidFill>
                <a:latin typeface="Calibri"/>
                <a:ea typeface="Calibri"/>
              </a:rPr>
              <a:t>order_id (FK)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42"/>
          <p:cNvSpPr/>
          <p:nvPr/>
        </p:nvSpPr>
        <p:spPr>
          <a:xfrm>
            <a:off x="5303520" y="3877200"/>
            <a:ext cx="2377080" cy="2556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4" name="Text 43"/>
          <p:cNvSpPr/>
          <p:nvPr/>
        </p:nvSpPr>
        <p:spPr>
          <a:xfrm>
            <a:off x="5394960" y="3895200"/>
            <a:ext cx="2194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151"/>
                </a:solidFill>
                <a:latin typeface="Calibri"/>
                <a:ea typeface="Calibri"/>
              </a:rPr>
              <a:t>product_id (FK)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44"/>
          <p:cNvSpPr/>
          <p:nvPr/>
        </p:nvSpPr>
        <p:spPr>
          <a:xfrm>
            <a:off x="5303520" y="4133160"/>
            <a:ext cx="2377080" cy="255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6" name="Text 45"/>
          <p:cNvSpPr/>
          <p:nvPr/>
        </p:nvSpPr>
        <p:spPr>
          <a:xfrm>
            <a:off x="5394960" y="4151520"/>
            <a:ext cx="2194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151"/>
                </a:solidFill>
                <a:latin typeface="Calibri"/>
                <a:ea typeface="Calibri"/>
              </a:rPr>
              <a:t>quantity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46"/>
          <p:cNvSpPr/>
          <p:nvPr/>
        </p:nvSpPr>
        <p:spPr>
          <a:xfrm>
            <a:off x="5303520" y="4389120"/>
            <a:ext cx="2377080" cy="2556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8" name="Text 47"/>
          <p:cNvSpPr/>
          <p:nvPr/>
        </p:nvSpPr>
        <p:spPr>
          <a:xfrm>
            <a:off x="5394960" y="4407480"/>
            <a:ext cx="2194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151"/>
                </a:solidFill>
                <a:latin typeface="Calibri"/>
                <a:ea typeface="Calibri"/>
              </a:rPr>
              <a:t>unit_price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48"/>
          <p:cNvSpPr/>
          <p:nvPr/>
        </p:nvSpPr>
        <p:spPr>
          <a:xfrm>
            <a:off x="365760" y="3017520"/>
            <a:ext cx="2377080" cy="34704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0" name="Text 49"/>
          <p:cNvSpPr/>
          <p:nvPr/>
        </p:nvSpPr>
        <p:spPr>
          <a:xfrm>
            <a:off x="365760" y="3017520"/>
            <a:ext cx="2377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users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50"/>
          <p:cNvSpPr/>
          <p:nvPr/>
        </p:nvSpPr>
        <p:spPr>
          <a:xfrm>
            <a:off x="365760" y="3364920"/>
            <a:ext cx="2377080" cy="2556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2" name="Text 51"/>
          <p:cNvSpPr/>
          <p:nvPr/>
        </p:nvSpPr>
        <p:spPr>
          <a:xfrm>
            <a:off x="457200" y="3383280"/>
            <a:ext cx="2194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151"/>
                </a:solidFill>
                <a:latin typeface="Calibri"/>
                <a:ea typeface="Calibri"/>
              </a:rPr>
              <a:t>user_id (PK)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52"/>
          <p:cNvSpPr/>
          <p:nvPr/>
        </p:nvSpPr>
        <p:spPr>
          <a:xfrm>
            <a:off x="365760" y="3620880"/>
            <a:ext cx="2377080" cy="255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4" name="Text 53"/>
          <p:cNvSpPr/>
          <p:nvPr/>
        </p:nvSpPr>
        <p:spPr>
          <a:xfrm>
            <a:off x="457200" y="3639240"/>
            <a:ext cx="2194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151"/>
                </a:solidFill>
                <a:latin typeface="Calibri"/>
                <a:ea typeface="Calibri"/>
              </a:rPr>
              <a:t>username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54"/>
          <p:cNvSpPr/>
          <p:nvPr/>
        </p:nvSpPr>
        <p:spPr>
          <a:xfrm>
            <a:off x="365760" y="3877200"/>
            <a:ext cx="2377080" cy="2556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6" name="Text 55"/>
          <p:cNvSpPr/>
          <p:nvPr/>
        </p:nvSpPr>
        <p:spPr>
          <a:xfrm>
            <a:off x="457200" y="3895200"/>
            <a:ext cx="2194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151"/>
                </a:solidFill>
                <a:latin typeface="Calibri"/>
                <a:ea typeface="Calibri"/>
              </a:rPr>
              <a:t>password_hash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56"/>
          <p:cNvSpPr/>
          <p:nvPr/>
        </p:nvSpPr>
        <p:spPr>
          <a:xfrm>
            <a:off x="365760" y="4133160"/>
            <a:ext cx="2377080" cy="255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8" name="Text 57"/>
          <p:cNvSpPr/>
          <p:nvPr/>
        </p:nvSpPr>
        <p:spPr>
          <a:xfrm>
            <a:off x="457200" y="4151520"/>
            <a:ext cx="2194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151"/>
                </a:solidFill>
                <a:latin typeface="Calibri"/>
                <a:ea typeface="Calibri"/>
              </a:rPr>
              <a:t>role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58"/>
          <p:cNvSpPr/>
          <p:nvPr/>
        </p:nvSpPr>
        <p:spPr>
          <a:xfrm>
            <a:off x="2743200" y="3017520"/>
            <a:ext cx="2377080" cy="3470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0" name="Text 59"/>
          <p:cNvSpPr/>
          <p:nvPr/>
        </p:nvSpPr>
        <p:spPr>
          <a:xfrm>
            <a:off x="2743200" y="3017520"/>
            <a:ext cx="2377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payments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60"/>
          <p:cNvSpPr/>
          <p:nvPr/>
        </p:nvSpPr>
        <p:spPr>
          <a:xfrm>
            <a:off x="2743200" y="3364920"/>
            <a:ext cx="2377080" cy="2556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2" name="Text 61"/>
          <p:cNvSpPr/>
          <p:nvPr/>
        </p:nvSpPr>
        <p:spPr>
          <a:xfrm>
            <a:off x="2834640" y="3383280"/>
            <a:ext cx="2194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151"/>
                </a:solidFill>
                <a:latin typeface="Calibri"/>
                <a:ea typeface="Calibri"/>
              </a:rPr>
              <a:t>payment_id (PK)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62"/>
          <p:cNvSpPr/>
          <p:nvPr/>
        </p:nvSpPr>
        <p:spPr>
          <a:xfrm>
            <a:off x="2743200" y="3620880"/>
            <a:ext cx="2377080" cy="255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4" name="Text 63"/>
          <p:cNvSpPr/>
          <p:nvPr/>
        </p:nvSpPr>
        <p:spPr>
          <a:xfrm>
            <a:off x="2834640" y="3639240"/>
            <a:ext cx="2194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151"/>
                </a:solidFill>
                <a:latin typeface="Calibri"/>
                <a:ea typeface="Calibri"/>
              </a:rPr>
              <a:t>order_id (FK)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64"/>
          <p:cNvSpPr/>
          <p:nvPr/>
        </p:nvSpPr>
        <p:spPr>
          <a:xfrm>
            <a:off x="2743200" y="3877200"/>
            <a:ext cx="2377080" cy="2556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6" name="Text 65"/>
          <p:cNvSpPr/>
          <p:nvPr/>
        </p:nvSpPr>
        <p:spPr>
          <a:xfrm>
            <a:off x="2834640" y="3895200"/>
            <a:ext cx="2194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151"/>
                </a:solidFill>
                <a:latin typeface="Calibri"/>
                <a:ea typeface="Calibri"/>
              </a:rPr>
              <a:t>amount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66"/>
          <p:cNvSpPr/>
          <p:nvPr/>
        </p:nvSpPr>
        <p:spPr>
          <a:xfrm>
            <a:off x="2743200" y="4133160"/>
            <a:ext cx="2377080" cy="255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8" name="Text 67"/>
          <p:cNvSpPr/>
          <p:nvPr/>
        </p:nvSpPr>
        <p:spPr>
          <a:xfrm>
            <a:off x="2834640" y="4151520"/>
            <a:ext cx="2194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151"/>
                </a:solidFill>
                <a:latin typeface="Calibri"/>
                <a:ea typeface="Calibri"/>
              </a:rPr>
              <a:t>method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68"/>
          <p:cNvSpPr/>
          <p:nvPr/>
        </p:nvSpPr>
        <p:spPr>
          <a:xfrm>
            <a:off x="2743200" y="4389120"/>
            <a:ext cx="2377080" cy="2556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0" name="Text 69"/>
          <p:cNvSpPr/>
          <p:nvPr/>
        </p:nvSpPr>
        <p:spPr>
          <a:xfrm>
            <a:off x="2834640" y="4407480"/>
            <a:ext cx="2194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151"/>
                </a:solidFill>
                <a:latin typeface="Calibri"/>
                <a:ea typeface="Calibri"/>
              </a:rPr>
              <a:t>status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1b6b2f"/>
          </a:solidFill>
          <a:ln w="12700">
            <a:solidFill>
              <a:srgbClr val="1b6b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2" name="Text 1"/>
          <p:cNvSpPr/>
          <p:nvPr/>
        </p:nvSpPr>
        <p:spPr>
          <a:xfrm>
            <a:off x="365760" y="22860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6b2f"/>
                </a:solidFill>
                <a:latin typeface="Calibri"/>
                <a:ea typeface="Calibri"/>
              </a:rPr>
              <a:t>Функционалност — Потребители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2"/>
          <p:cNvSpPr/>
          <p:nvPr/>
        </p:nvSpPr>
        <p:spPr>
          <a:xfrm>
            <a:off x="365760" y="1005840"/>
            <a:ext cx="4205880" cy="1096920"/>
          </a:xfrm>
          <a:prstGeom prst="rect">
            <a:avLst/>
          </a:prstGeom>
          <a:solidFill>
            <a:srgbClr val="eaf5ec"/>
          </a:solidFill>
          <a:ln w="12700">
            <a:solidFill>
              <a:srgbClr val="c8e6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4" name="Text 3"/>
          <p:cNvSpPr/>
          <p:nvPr/>
        </p:nvSpPr>
        <p:spPr>
          <a:xfrm>
            <a:off x="365760" y="1097280"/>
            <a:ext cx="914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🏠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4"/>
          <p:cNvSpPr/>
          <p:nvPr/>
        </p:nvSpPr>
        <p:spPr>
          <a:xfrm>
            <a:off x="1280160" y="109728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b6b2f"/>
                </a:solidFill>
                <a:latin typeface="Calibri"/>
                <a:ea typeface="Calibri"/>
              </a:rPr>
              <a:t>Начална страница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5"/>
          <p:cNvSpPr/>
          <p:nvPr/>
        </p:nvSpPr>
        <p:spPr>
          <a:xfrm>
            <a:off x="1280160" y="1481400"/>
            <a:ext cx="3154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Calibri"/>
                <a:ea typeface="Calibri"/>
              </a:rPr>
              <a:t>Представяне на актуални продукти с снимки и цени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6"/>
          <p:cNvSpPr/>
          <p:nvPr/>
        </p:nvSpPr>
        <p:spPr>
          <a:xfrm>
            <a:off x="4800600" y="1005840"/>
            <a:ext cx="4205880" cy="1096920"/>
          </a:xfrm>
          <a:prstGeom prst="rect">
            <a:avLst/>
          </a:prstGeom>
          <a:solidFill>
            <a:srgbClr val="eaf5ec"/>
          </a:solidFill>
          <a:ln w="12700">
            <a:solidFill>
              <a:srgbClr val="c8e6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8" name="Text 7"/>
          <p:cNvSpPr/>
          <p:nvPr/>
        </p:nvSpPr>
        <p:spPr>
          <a:xfrm>
            <a:off x="4800600" y="1097280"/>
            <a:ext cx="914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📦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8"/>
          <p:cNvSpPr/>
          <p:nvPr/>
        </p:nvSpPr>
        <p:spPr>
          <a:xfrm>
            <a:off x="5715000" y="109728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b6b2f"/>
                </a:solidFill>
                <a:latin typeface="Calibri"/>
                <a:ea typeface="Calibri"/>
              </a:rPr>
              <a:t>Каталог по категории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9"/>
          <p:cNvSpPr/>
          <p:nvPr/>
        </p:nvSpPr>
        <p:spPr>
          <a:xfrm>
            <a:off x="5715000" y="1481400"/>
            <a:ext cx="3154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Calibri"/>
                <a:ea typeface="Calibri"/>
              </a:rPr>
              <a:t>Семена, стайни растения, дворни растения, букети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10"/>
          <p:cNvSpPr/>
          <p:nvPr/>
        </p:nvSpPr>
        <p:spPr>
          <a:xfrm>
            <a:off x="365760" y="2286000"/>
            <a:ext cx="4205880" cy="1096920"/>
          </a:xfrm>
          <a:prstGeom prst="rect">
            <a:avLst/>
          </a:prstGeom>
          <a:solidFill>
            <a:srgbClr val="eaf5ec"/>
          </a:solidFill>
          <a:ln w="12700">
            <a:solidFill>
              <a:srgbClr val="c8e6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2" name="Text 11"/>
          <p:cNvSpPr/>
          <p:nvPr/>
        </p:nvSpPr>
        <p:spPr>
          <a:xfrm>
            <a:off x="365760" y="2377440"/>
            <a:ext cx="914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🛒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12"/>
          <p:cNvSpPr/>
          <p:nvPr/>
        </p:nvSpPr>
        <p:spPr>
          <a:xfrm>
            <a:off x="1280160" y="237744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b6b2f"/>
                </a:solidFill>
                <a:latin typeface="Calibri"/>
                <a:ea typeface="Calibri"/>
              </a:rPr>
              <a:t>Количка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13"/>
          <p:cNvSpPr/>
          <p:nvPr/>
        </p:nvSpPr>
        <p:spPr>
          <a:xfrm>
            <a:off x="1280160" y="2761560"/>
            <a:ext cx="3154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Calibri"/>
                <a:ea typeface="Calibri"/>
              </a:rPr>
              <a:t>Добавяне, коригиране, премахване на продукти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14"/>
          <p:cNvSpPr/>
          <p:nvPr/>
        </p:nvSpPr>
        <p:spPr>
          <a:xfrm>
            <a:off x="4800600" y="2286000"/>
            <a:ext cx="4205880" cy="1096920"/>
          </a:xfrm>
          <a:prstGeom prst="rect">
            <a:avLst/>
          </a:prstGeom>
          <a:solidFill>
            <a:srgbClr val="eaf5ec"/>
          </a:solidFill>
          <a:ln w="12700">
            <a:solidFill>
              <a:srgbClr val="c8e6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6" name="Text 15"/>
          <p:cNvSpPr/>
          <p:nvPr/>
        </p:nvSpPr>
        <p:spPr>
          <a:xfrm>
            <a:off x="4800600" y="2377440"/>
            <a:ext cx="914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📋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16"/>
          <p:cNvSpPr/>
          <p:nvPr/>
        </p:nvSpPr>
        <p:spPr>
          <a:xfrm>
            <a:off x="5715000" y="237744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b6b2f"/>
                </a:solidFill>
                <a:latin typeface="Calibri"/>
                <a:ea typeface="Calibri"/>
              </a:rPr>
              <a:t>Онлайн поръчка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17"/>
          <p:cNvSpPr/>
          <p:nvPr/>
        </p:nvSpPr>
        <p:spPr>
          <a:xfrm>
            <a:off x="5715000" y="2761560"/>
            <a:ext cx="3154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Calibri"/>
                <a:ea typeface="Calibri"/>
              </a:rPr>
              <a:t>Форма с доставка, дата/час и допълнителни бележки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18"/>
          <p:cNvSpPr/>
          <p:nvPr/>
        </p:nvSpPr>
        <p:spPr>
          <a:xfrm>
            <a:off x="365760" y="3566160"/>
            <a:ext cx="4205880" cy="1096920"/>
          </a:xfrm>
          <a:prstGeom prst="rect">
            <a:avLst/>
          </a:prstGeom>
          <a:solidFill>
            <a:srgbClr val="eaf5ec"/>
          </a:solidFill>
          <a:ln w="12700">
            <a:solidFill>
              <a:srgbClr val="c8e6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0" name="Text 19"/>
          <p:cNvSpPr/>
          <p:nvPr/>
        </p:nvSpPr>
        <p:spPr>
          <a:xfrm>
            <a:off x="365760" y="3657600"/>
            <a:ext cx="914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💐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20"/>
          <p:cNvSpPr/>
          <p:nvPr/>
        </p:nvSpPr>
        <p:spPr>
          <a:xfrm>
            <a:off x="1280160" y="365760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b6b2f"/>
                </a:solidFill>
                <a:latin typeface="Calibri"/>
                <a:ea typeface="Calibri"/>
              </a:rPr>
              <a:t>Букет по поръчка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21"/>
          <p:cNvSpPr/>
          <p:nvPr/>
        </p:nvSpPr>
        <p:spPr>
          <a:xfrm>
            <a:off x="1280160" y="4041720"/>
            <a:ext cx="3154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Calibri"/>
                <a:ea typeface="Calibri"/>
              </a:rPr>
              <a:t>Персонализирана услуга: видове, брой, цвят, картичка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22"/>
          <p:cNvSpPr/>
          <p:nvPr/>
        </p:nvSpPr>
        <p:spPr>
          <a:xfrm>
            <a:off x="4800600" y="3566160"/>
            <a:ext cx="4205880" cy="1096920"/>
          </a:xfrm>
          <a:prstGeom prst="rect">
            <a:avLst/>
          </a:prstGeom>
          <a:solidFill>
            <a:srgbClr val="eaf5ec"/>
          </a:solidFill>
          <a:ln w="12700">
            <a:solidFill>
              <a:srgbClr val="c8e6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4" name="Text 23"/>
          <p:cNvSpPr/>
          <p:nvPr/>
        </p:nvSpPr>
        <p:spPr>
          <a:xfrm>
            <a:off x="4800600" y="3657600"/>
            <a:ext cx="914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👤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24"/>
          <p:cNvSpPr/>
          <p:nvPr/>
        </p:nvSpPr>
        <p:spPr>
          <a:xfrm>
            <a:off x="5715000" y="365760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b6b2f"/>
                </a:solidFill>
                <a:latin typeface="Calibri"/>
                <a:ea typeface="Calibri"/>
              </a:rPr>
              <a:t>Регистрация / Вход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25"/>
          <p:cNvSpPr/>
          <p:nvPr/>
        </p:nvSpPr>
        <p:spPr>
          <a:xfrm>
            <a:off x="5715000" y="4041720"/>
            <a:ext cx="3154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Calibri"/>
                <a:ea typeface="Calibri"/>
              </a:rPr>
              <a:t>Личен профил с история на поръчките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6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0"/>
          <p:cNvSpPr/>
          <p:nvPr/>
        </p:nvSpPr>
        <p:spPr>
          <a:xfrm>
            <a:off x="0" y="4389120"/>
            <a:ext cx="9143640" cy="754200"/>
          </a:xfrm>
          <a:prstGeom prst="rect">
            <a:avLst/>
          </a:prstGeom>
          <a:solidFill>
            <a:srgbClr val="2e8b4a"/>
          </a:solidFill>
          <a:ln w="12700">
            <a:solidFill>
              <a:srgbClr val="2e8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8" name="Text 1"/>
          <p:cNvSpPr/>
          <p:nvPr/>
        </p:nvSpPr>
        <p:spPr>
          <a:xfrm>
            <a:off x="457200" y="18288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  <a:ea typeface="Calibri"/>
              </a:rPr>
              <a:t>Административен панел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Shape 2"/>
          <p:cNvSpPr/>
          <p:nvPr/>
        </p:nvSpPr>
        <p:spPr>
          <a:xfrm>
            <a:off x="365760" y="1005840"/>
            <a:ext cx="4205880" cy="132552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0" name="Text 3"/>
          <p:cNvSpPr/>
          <p:nvPr/>
        </p:nvSpPr>
        <p:spPr>
          <a:xfrm>
            <a:off x="365760" y="1115640"/>
            <a:ext cx="914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</a:rPr>
              <a:t>🔐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4"/>
          <p:cNvSpPr/>
          <p:nvPr/>
        </p:nvSpPr>
        <p:spPr>
          <a:xfrm>
            <a:off x="1280160" y="1115640"/>
            <a:ext cx="3154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0a500"/>
                </a:solidFill>
                <a:latin typeface="Calibri"/>
                <a:ea typeface="Calibri"/>
              </a:rPr>
              <a:t>Вход с парола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5"/>
          <p:cNvSpPr/>
          <p:nvPr/>
        </p:nvSpPr>
        <p:spPr>
          <a:xfrm>
            <a:off x="1280160" y="1517760"/>
            <a:ext cx="3154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Защитен достъп с потребителско име и хеширана парола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Shape 6"/>
          <p:cNvSpPr/>
          <p:nvPr/>
        </p:nvSpPr>
        <p:spPr>
          <a:xfrm>
            <a:off x="4846320" y="1005840"/>
            <a:ext cx="4205880" cy="132552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4" name="Text 7"/>
          <p:cNvSpPr/>
          <p:nvPr/>
        </p:nvSpPr>
        <p:spPr>
          <a:xfrm>
            <a:off x="4846320" y="1115640"/>
            <a:ext cx="914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</a:rPr>
              <a:t>➕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ext 8"/>
          <p:cNvSpPr/>
          <p:nvPr/>
        </p:nvSpPr>
        <p:spPr>
          <a:xfrm>
            <a:off x="5760720" y="1115640"/>
            <a:ext cx="3154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0a500"/>
                </a:solidFill>
                <a:latin typeface="Calibri"/>
                <a:ea typeface="Calibri"/>
              </a:rPr>
              <a:t>Управление на продукти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Text 9"/>
          <p:cNvSpPr/>
          <p:nvPr/>
        </p:nvSpPr>
        <p:spPr>
          <a:xfrm>
            <a:off x="5760720" y="1517760"/>
            <a:ext cx="3154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Добавяне, редактиране, скриване и изтриване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Shape 10"/>
          <p:cNvSpPr/>
          <p:nvPr/>
        </p:nvSpPr>
        <p:spPr>
          <a:xfrm>
            <a:off x="365760" y="2514600"/>
            <a:ext cx="4205880" cy="132552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8" name="Text 11"/>
          <p:cNvSpPr/>
          <p:nvPr/>
        </p:nvSpPr>
        <p:spPr>
          <a:xfrm>
            <a:off x="365760" y="2624400"/>
            <a:ext cx="914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</a:rPr>
              <a:t>🗂️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Text 12"/>
          <p:cNvSpPr/>
          <p:nvPr/>
        </p:nvSpPr>
        <p:spPr>
          <a:xfrm>
            <a:off x="1280160" y="2624400"/>
            <a:ext cx="3154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0a500"/>
                </a:solidFill>
                <a:latin typeface="Calibri"/>
                <a:ea typeface="Calibri"/>
              </a:rPr>
              <a:t>Управление на категории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 13"/>
          <p:cNvSpPr/>
          <p:nvPr/>
        </p:nvSpPr>
        <p:spPr>
          <a:xfrm>
            <a:off x="1280160" y="3026520"/>
            <a:ext cx="3154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Организация на каталога по вид и повод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Shape 14"/>
          <p:cNvSpPr/>
          <p:nvPr/>
        </p:nvSpPr>
        <p:spPr>
          <a:xfrm>
            <a:off x="4846320" y="2514600"/>
            <a:ext cx="4205880" cy="132552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2" name="Text 15"/>
          <p:cNvSpPr/>
          <p:nvPr/>
        </p:nvSpPr>
        <p:spPr>
          <a:xfrm>
            <a:off x="4846320" y="2624400"/>
            <a:ext cx="914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</a:rPr>
              <a:t>📊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 16"/>
          <p:cNvSpPr/>
          <p:nvPr/>
        </p:nvSpPr>
        <p:spPr>
          <a:xfrm>
            <a:off x="5760720" y="2624400"/>
            <a:ext cx="3154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0a500"/>
                </a:solidFill>
                <a:latin typeface="Calibri"/>
                <a:ea typeface="Calibri"/>
              </a:rPr>
              <a:t>Преглед на поръчки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Text 17"/>
          <p:cNvSpPr/>
          <p:nvPr/>
        </p:nvSpPr>
        <p:spPr>
          <a:xfrm>
            <a:off x="5760720" y="3026520"/>
            <a:ext cx="3154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Списък с поръчки и смяна на статус (нова / обработва се / доставена / отказана)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Rectangle 1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287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6" name="TextBox 2"/>
          <p:cNvSpPr/>
          <p:nvPr/>
        </p:nvSpPr>
        <p:spPr>
          <a:xfrm>
            <a:off x="3049560" y="45720"/>
            <a:ext cx="30445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🌐  </a:t>
            </a: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Публични страници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7" name="Picture 3" descr="01_home.png"/>
          <p:cNvPicPr/>
          <p:nvPr/>
        </p:nvPicPr>
        <p:blipFill>
          <a:blip r:embed="rId1"/>
          <a:stretch/>
        </p:blipFill>
        <p:spPr>
          <a:xfrm>
            <a:off x="137160" y="594360"/>
            <a:ext cx="4297320" cy="3200040"/>
          </a:xfrm>
          <a:prstGeom prst="rect">
            <a:avLst/>
          </a:prstGeom>
          <a:ln w="0">
            <a:noFill/>
          </a:ln>
        </p:spPr>
      </p:pic>
      <p:sp>
        <p:nvSpPr>
          <p:cNvPr id="238" name="TextBox 4"/>
          <p:cNvSpPr/>
          <p:nvPr/>
        </p:nvSpPr>
        <p:spPr>
          <a:xfrm>
            <a:off x="137160" y="3840480"/>
            <a:ext cx="42973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100" spc="-1" strike="noStrike">
                <a:solidFill>
                  <a:srgbClr val="1a1a2e"/>
                </a:solidFill>
                <a:latin typeface="Calibri"/>
              </a:rPr>
              <a:t>Начална страница — каталог с продукти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9" name="Picture 5" descr="03_product.png"/>
          <p:cNvPicPr/>
          <p:nvPr/>
        </p:nvPicPr>
        <p:blipFill>
          <a:blip r:embed="rId2"/>
          <a:stretch/>
        </p:blipFill>
        <p:spPr>
          <a:xfrm>
            <a:off x="4572000" y="594360"/>
            <a:ext cx="4297320" cy="3200040"/>
          </a:xfrm>
          <a:prstGeom prst="rect">
            <a:avLst/>
          </a:prstGeom>
          <a:ln w="0">
            <a:noFill/>
          </a:ln>
        </p:spPr>
      </p:pic>
      <p:sp>
        <p:nvSpPr>
          <p:cNvPr id="240" name="TextBox 6"/>
          <p:cNvSpPr/>
          <p:nvPr/>
        </p:nvSpPr>
        <p:spPr>
          <a:xfrm>
            <a:off x="4572000" y="3840480"/>
            <a:ext cx="42973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100" spc="-1" strike="noStrike">
                <a:solidFill>
                  <a:srgbClr val="1a1a2e"/>
                </a:solidFill>
                <a:latin typeface="Calibri"/>
              </a:rPr>
              <a:t>Детайли за продукт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Rectangle 1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287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2" name="TextBox 2"/>
          <p:cNvSpPr/>
          <p:nvPr/>
        </p:nvSpPr>
        <p:spPr>
          <a:xfrm>
            <a:off x="2767680" y="45720"/>
            <a:ext cx="36082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🛒  </a:t>
            </a: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Количка и автентикация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3" name="Picture 3" descr="04_cart.png"/>
          <p:cNvPicPr/>
          <p:nvPr/>
        </p:nvPicPr>
        <p:blipFill>
          <a:blip r:embed="rId1"/>
          <a:stretch/>
        </p:blipFill>
        <p:spPr>
          <a:xfrm>
            <a:off x="137160" y="594360"/>
            <a:ext cx="4297320" cy="3200040"/>
          </a:xfrm>
          <a:prstGeom prst="rect">
            <a:avLst/>
          </a:prstGeom>
          <a:ln w="0">
            <a:noFill/>
          </a:ln>
        </p:spPr>
      </p:pic>
      <p:sp>
        <p:nvSpPr>
          <p:cNvPr id="244" name="TextBox 4"/>
          <p:cNvSpPr/>
          <p:nvPr/>
        </p:nvSpPr>
        <p:spPr>
          <a:xfrm>
            <a:off x="137160" y="3840480"/>
            <a:ext cx="42973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100" spc="-1" strike="noStrike">
                <a:solidFill>
                  <a:srgbClr val="1a1a2e"/>
                </a:solidFill>
                <a:latin typeface="Calibri"/>
              </a:rPr>
              <a:t>Количка с продукти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5" name="Picture 5" descr="05_login.png"/>
          <p:cNvPicPr/>
          <p:nvPr/>
        </p:nvPicPr>
        <p:blipFill>
          <a:blip r:embed="rId2"/>
          <a:stretch/>
        </p:blipFill>
        <p:spPr>
          <a:xfrm>
            <a:off x="4572000" y="594360"/>
            <a:ext cx="4297320" cy="3200040"/>
          </a:xfrm>
          <a:prstGeom prst="rect">
            <a:avLst/>
          </a:prstGeom>
          <a:ln w="0">
            <a:noFill/>
          </a:ln>
        </p:spPr>
      </p:pic>
      <p:sp>
        <p:nvSpPr>
          <p:cNvPr id="246" name="TextBox 6"/>
          <p:cNvSpPr/>
          <p:nvPr/>
        </p:nvSpPr>
        <p:spPr>
          <a:xfrm>
            <a:off x="4572000" y="3840480"/>
            <a:ext cx="42973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100" spc="-1" strike="noStrike">
                <a:solidFill>
                  <a:srgbClr val="1a1a2e"/>
                </a:solidFill>
                <a:latin typeface="Calibri"/>
              </a:rPr>
              <a:t>Вход в системата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Rectangle 1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287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8" name="TextBox 2"/>
          <p:cNvSpPr/>
          <p:nvPr/>
        </p:nvSpPr>
        <p:spPr>
          <a:xfrm>
            <a:off x="2310480" y="45720"/>
            <a:ext cx="45226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💐  </a:t>
            </a: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Услуги и потребителски профил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9" name="Picture 3" descr="06_custom_bouquet.png"/>
          <p:cNvPicPr/>
          <p:nvPr/>
        </p:nvPicPr>
        <p:blipFill>
          <a:blip r:embed="rId1"/>
          <a:stretch/>
        </p:blipFill>
        <p:spPr>
          <a:xfrm>
            <a:off x="137160" y="594360"/>
            <a:ext cx="4297320" cy="3200040"/>
          </a:xfrm>
          <a:prstGeom prst="rect">
            <a:avLst/>
          </a:prstGeom>
          <a:ln w="0">
            <a:noFill/>
          </a:ln>
        </p:spPr>
      </p:pic>
      <p:sp>
        <p:nvSpPr>
          <p:cNvPr id="250" name="TextBox 4"/>
          <p:cNvSpPr/>
          <p:nvPr/>
        </p:nvSpPr>
        <p:spPr>
          <a:xfrm>
            <a:off x="137160" y="3840480"/>
            <a:ext cx="42973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100" spc="-1" strike="noStrike">
                <a:solidFill>
                  <a:srgbClr val="1a1a2e"/>
                </a:solidFill>
                <a:latin typeface="Calibri"/>
              </a:rPr>
              <a:t>Букет по поръчка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1" name="Picture 5" descr="11_my_profile.png"/>
          <p:cNvPicPr/>
          <p:nvPr/>
        </p:nvPicPr>
        <p:blipFill>
          <a:blip r:embed="rId2"/>
          <a:stretch/>
        </p:blipFill>
        <p:spPr>
          <a:xfrm>
            <a:off x="4572000" y="594360"/>
            <a:ext cx="4297320" cy="3200040"/>
          </a:xfrm>
          <a:prstGeom prst="rect">
            <a:avLst/>
          </a:prstGeom>
          <a:ln w="0">
            <a:noFill/>
          </a:ln>
        </p:spPr>
      </p:pic>
      <p:sp>
        <p:nvSpPr>
          <p:cNvPr id="252" name="TextBox 6"/>
          <p:cNvSpPr/>
          <p:nvPr/>
        </p:nvSpPr>
        <p:spPr>
          <a:xfrm>
            <a:off x="4572000" y="3840480"/>
            <a:ext cx="42973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100" spc="-1" strike="noStrike">
                <a:solidFill>
                  <a:srgbClr val="1a1a2e"/>
                </a:solidFill>
                <a:latin typeface="Calibri"/>
              </a:rPr>
              <a:t>Моят профил — история на поръчките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Rectangle 1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287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4" name="TextBox 2"/>
          <p:cNvSpPr/>
          <p:nvPr/>
        </p:nvSpPr>
        <p:spPr>
          <a:xfrm>
            <a:off x="2753640" y="45720"/>
            <a:ext cx="36360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🔐  </a:t>
            </a: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Административен панел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5" name="Picture 3" descr="08_admin_products.png"/>
          <p:cNvPicPr/>
          <p:nvPr/>
        </p:nvPicPr>
        <p:blipFill>
          <a:blip r:embed="rId1"/>
          <a:stretch/>
        </p:blipFill>
        <p:spPr>
          <a:xfrm>
            <a:off x="137160" y="594360"/>
            <a:ext cx="4297320" cy="3200040"/>
          </a:xfrm>
          <a:prstGeom prst="rect">
            <a:avLst/>
          </a:prstGeom>
          <a:ln w="0">
            <a:noFill/>
          </a:ln>
        </p:spPr>
      </p:pic>
      <p:sp>
        <p:nvSpPr>
          <p:cNvPr id="256" name="TextBox 4"/>
          <p:cNvSpPr/>
          <p:nvPr/>
        </p:nvSpPr>
        <p:spPr>
          <a:xfrm>
            <a:off x="137160" y="3840480"/>
            <a:ext cx="42973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100" spc="-1" strike="noStrike">
                <a:solidFill>
                  <a:srgbClr val="1a1a2e"/>
                </a:solidFill>
                <a:latin typeface="Calibri"/>
              </a:rPr>
              <a:t>Управление на продукти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7" name="Picture 5" descr="10_admin_orders.png"/>
          <p:cNvPicPr/>
          <p:nvPr/>
        </p:nvPicPr>
        <p:blipFill>
          <a:blip r:embed="rId2"/>
          <a:stretch/>
        </p:blipFill>
        <p:spPr>
          <a:xfrm>
            <a:off x="4572000" y="594360"/>
            <a:ext cx="4297320" cy="3200040"/>
          </a:xfrm>
          <a:prstGeom prst="rect">
            <a:avLst/>
          </a:prstGeom>
          <a:ln w="0">
            <a:noFill/>
          </a:ln>
        </p:spPr>
      </p:pic>
      <p:sp>
        <p:nvSpPr>
          <p:cNvPr id="258" name="TextBox 6"/>
          <p:cNvSpPr/>
          <p:nvPr/>
        </p:nvSpPr>
        <p:spPr>
          <a:xfrm>
            <a:off x="4572000" y="3840480"/>
            <a:ext cx="42973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100" spc="-1" strike="noStrike">
                <a:solidFill>
                  <a:srgbClr val="1a1a2e"/>
                </a:solidFill>
                <a:latin typeface="Calibri"/>
              </a:rPr>
              <a:t>Преглед на поръчки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1b6b2f"/>
          </a:solidFill>
          <a:ln w="12700">
            <a:solidFill>
              <a:srgbClr val="1b6b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0" name="Text 1"/>
          <p:cNvSpPr/>
          <p:nvPr/>
        </p:nvSpPr>
        <p:spPr>
          <a:xfrm>
            <a:off x="365760" y="22860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6b2f"/>
                </a:solidFill>
                <a:latin typeface="Calibri"/>
                <a:ea typeface="Calibri"/>
              </a:rPr>
              <a:t>Тестване и валидация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2"/>
          <p:cNvSpPr/>
          <p:nvPr/>
        </p:nvSpPr>
        <p:spPr>
          <a:xfrm>
            <a:off x="365760" y="1005840"/>
            <a:ext cx="2742840" cy="411120"/>
          </a:xfrm>
          <a:prstGeom prst="rect">
            <a:avLst/>
          </a:prstGeom>
          <a:solidFill>
            <a:srgbClr val="2e8b4a"/>
          </a:solidFill>
          <a:ln w="12700">
            <a:solidFill>
              <a:srgbClr val="2e8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2" name="Text 3"/>
          <p:cNvSpPr/>
          <p:nvPr/>
        </p:nvSpPr>
        <p:spPr>
          <a:xfrm>
            <a:off x="438840" y="1005840"/>
            <a:ext cx="2605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Функционални тестове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4"/>
          <p:cNvSpPr/>
          <p:nvPr/>
        </p:nvSpPr>
        <p:spPr>
          <a:xfrm>
            <a:off x="365760" y="1508760"/>
            <a:ext cx="2742840" cy="6397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4" name="Shape 5"/>
          <p:cNvSpPr/>
          <p:nvPr/>
        </p:nvSpPr>
        <p:spPr>
          <a:xfrm>
            <a:off x="457200" y="1710000"/>
            <a:ext cx="228240" cy="228240"/>
          </a:xfrm>
          <a:prstGeom prst="ellipse">
            <a:avLst/>
          </a:prstGeom>
          <a:solidFill>
            <a:srgbClr val="2e8b4a"/>
          </a:solidFill>
          <a:ln w="12700">
            <a:solidFill>
              <a:srgbClr val="2e8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5" name="Text 6"/>
          <p:cNvSpPr/>
          <p:nvPr/>
        </p:nvSpPr>
        <p:spPr>
          <a:xfrm>
            <a:off x="749880" y="1563480"/>
            <a:ext cx="2285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74151"/>
                </a:solidFill>
                <a:latin typeface="Calibri"/>
                <a:ea typeface="Calibri"/>
              </a:rPr>
              <a:t>Добавяне на продукт в количка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7"/>
          <p:cNvSpPr/>
          <p:nvPr/>
        </p:nvSpPr>
        <p:spPr>
          <a:xfrm>
            <a:off x="365760" y="2240280"/>
            <a:ext cx="2742840" cy="639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7" name="Shape 8"/>
          <p:cNvSpPr/>
          <p:nvPr/>
        </p:nvSpPr>
        <p:spPr>
          <a:xfrm>
            <a:off x="457200" y="2441520"/>
            <a:ext cx="228240" cy="228240"/>
          </a:xfrm>
          <a:prstGeom prst="ellipse">
            <a:avLst/>
          </a:prstGeom>
          <a:solidFill>
            <a:srgbClr val="2e8b4a"/>
          </a:solidFill>
          <a:ln w="12700">
            <a:solidFill>
              <a:srgbClr val="2e8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8" name="Text 9"/>
          <p:cNvSpPr/>
          <p:nvPr/>
        </p:nvSpPr>
        <p:spPr>
          <a:xfrm>
            <a:off x="749880" y="2295000"/>
            <a:ext cx="2285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74151"/>
                </a:solidFill>
                <a:latin typeface="Calibri"/>
                <a:ea typeface="Calibri"/>
              </a:rPr>
              <a:t>Изпращане на поръчка (верни/грешни данни)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10"/>
          <p:cNvSpPr/>
          <p:nvPr/>
        </p:nvSpPr>
        <p:spPr>
          <a:xfrm>
            <a:off x="365760" y="2971800"/>
            <a:ext cx="2742840" cy="6397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0" name="Shape 11"/>
          <p:cNvSpPr/>
          <p:nvPr/>
        </p:nvSpPr>
        <p:spPr>
          <a:xfrm>
            <a:off x="457200" y="3173040"/>
            <a:ext cx="228240" cy="228240"/>
          </a:xfrm>
          <a:prstGeom prst="ellipse">
            <a:avLst/>
          </a:prstGeom>
          <a:solidFill>
            <a:srgbClr val="2e8b4a"/>
          </a:solidFill>
          <a:ln w="12700">
            <a:solidFill>
              <a:srgbClr val="2e8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1" name="Text 12"/>
          <p:cNvSpPr/>
          <p:nvPr/>
        </p:nvSpPr>
        <p:spPr>
          <a:xfrm>
            <a:off x="749880" y="3026520"/>
            <a:ext cx="2285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74151"/>
                </a:solidFill>
                <a:latin typeface="Calibri"/>
                <a:ea typeface="Calibri"/>
              </a:rPr>
              <a:t>Смяна на статус от администратора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Shape 13"/>
          <p:cNvSpPr/>
          <p:nvPr/>
        </p:nvSpPr>
        <p:spPr>
          <a:xfrm>
            <a:off x="365760" y="3703320"/>
            <a:ext cx="2742840" cy="639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3" name="Shape 14"/>
          <p:cNvSpPr/>
          <p:nvPr/>
        </p:nvSpPr>
        <p:spPr>
          <a:xfrm>
            <a:off x="457200" y="3904560"/>
            <a:ext cx="228240" cy="228240"/>
          </a:xfrm>
          <a:prstGeom prst="ellipse">
            <a:avLst/>
          </a:prstGeom>
          <a:solidFill>
            <a:srgbClr val="2e8b4a"/>
          </a:solidFill>
          <a:ln w="12700">
            <a:solidFill>
              <a:srgbClr val="2e8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4" name="Text 15"/>
          <p:cNvSpPr/>
          <p:nvPr/>
        </p:nvSpPr>
        <p:spPr>
          <a:xfrm>
            <a:off x="749880" y="3758040"/>
            <a:ext cx="2285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74151"/>
                </a:solidFill>
                <a:latin typeface="Calibri"/>
                <a:ea typeface="Calibri"/>
              </a:rPr>
              <a:t>Добавяне/редактиране на продукт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16"/>
          <p:cNvSpPr/>
          <p:nvPr/>
        </p:nvSpPr>
        <p:spPr>
          <a:xfrm>
            <a:off x="3246120" y="1005840"/>
            <a:ext cx="2742840" cy="411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6" name="Text 17"/>
          <p:cNvSpPr/>
          <p:nvPr/>
        </p:nvSpPr>
        <p:spPr>
          <a:xfrm>
            <a:off x="3319200" y="1005840"/>
            <a:ext cx="2605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Тестове за данни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Shape 18"/>
          <p:cNvSpPr/>
          <p:nvPr/>
        </p:nvSpPr>
        <p:spPr>
          <a:xfrm>
            <a:off x="3246120" y="1508760"/>
            <a:ext cx="2742840" cy="6397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8" name="Shape 19"/>
          <p:cNvSpPr/>
          <p:nvPr/>
        </p:nvSpPr>
        <p:spPr>
          <a:xfrm>
            <a:off x="3337560" y="1710000"/>
            <a:ext cx="228240" cy="2282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9" name="Text 20"/>
          <p:cNvSpPr/>
          <p:nvPr/>
        </p:nvSpPr>
        <p:spPr>
          <a:xfrm>
            <a:off x="3630240" y="1563480"/>
            <a:ext cx="2285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74151"/>
                </a:solidFill>
                <a:latin typeface="Calibri"/>
                <a:ea typeface="Calibri"/>
              </a:rPr>
              <a:t>Валидиране на задължителни полета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21"/>
          <p:cNvSpPr/>
          <p:nvPr/>
        </p:nvSpPr>
        <p:spPr>
          <a:xfrm>
            <a:off x="3246120" y="2240280"/>
            <a:ext cx="2742840" cy="639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1" name="Shape 22"/>
          <p:cNvSpPr/>
          <p:nvPr/>
        </p:nvSpPr>
        <p:spPr>
          <a:xfrm>
            <a:off x="3337560" y="2441520"/>
            <a:ext cx="228240" cy="2282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2" name="Text 23"/>
          <p:cNvSpPr/>
          <p:nvPr/>
        </p:nvSpPr>
        <p:spPr>
          <a:xfrm>
            <a:off x="3630240" y="2295000"/>
            <a:ext cx="2285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74151"/>
                </a:solidFill>
                <a:latin typeface="Calibri"/>
                <a:ea typeface="Calibri"/>
              </a:rPr>
              <a:t>Проверка при прекалено дълги стойности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24"/>
          <p:cNvSpPr/>
          <p:nvPr/>
        </p:nvSpPr>
        <p:spPr>
          <a:xfrm>
            <a:off x="3246120" y="2971800"/>
            <a:ext cx="2742840" cy="6397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4" name="Shape 25"/>
          <p:cNvSpPr/>
          <p:nvPr/>
        </p:nvSpPr>
        <p:spPr>
          <a:xfrm>
            <a:off x="3337560" y="3173040"/>
            <a:ext cx="228240" cy="2282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5" name="Text 26"/>
          <p:cNvSpPr/>
          <p:nvPr/>
        </p:nvSpPr>
        <p:spPr>
          <a:xfrm>
            <a:off x="3630240" y="3026520"/>
            <a:ext cx="2285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74151"/>
                </a:solidFill>
                <a:latin typeface="Calibri"/>
                <a:ea typeface="Calibri"/>
              </a:rPr>
              <a:t>Защита от SQL injection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Shape 27"/>
          <p:cNvSpPr/>
          <p:nvPr/>
        </p:nvSpPr>
        <p:spPr>
          <a:xfrm>
            <a:off x="3246120" y="3703320"/>
            <a:ext cx="2742840" cy="639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7" name="Shape 28"/>
          <p:cNvSpPr/>
          <p:nvPr/>
        </p:nvSpPr>
        <p:spPr>
          <a:xfrm>
            <a:off x="3337560" y="3904560"/>
            <a:ext cx="228240" cy="2282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8" name="Text 29"/>
          <p:cNvSpPr/>
          <p:nvPr/>
        </p:nvSpPr>
        <p:spPr>
          <a:xfrm>
            <a:off x="3630240" y="3758040"/>
            <a:ext cx="2285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74151"/>
                </a:solidFill>
                <a:latin typeface="Calibri"/>
                <a:ea typeface="Calibri"/>
              </a:rPr>
              <a:t>Обработка на грешни типове данни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Shape 30"/>
          <p:cNvSpPr/>
          <p:nvPr/>
        </p:nvSpPr>
        <p:spPr>
          <a:xfrm>
            <a:off x="6126480" y="1005840"/>
            <a:ext cx="2742840" cy="41112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0" name="Text 31"/>
          <p:cNvSpPr/>
          <p:nvPr/>
        </p:nvSpPr>
        <p:spPr>
          <a:xfrm>
            <a:off x="6199560" y="1005840"/>
            <a:ext cx="2605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UI / Cross-device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Shape 32"/>
          <p:cNvSpPr/>
          <p:nvPr/>
        </p:nvSpPr>
        <p:spPr>
          <a:xfrm>
            <a:off x="6126480" y="1508760"/>
            <a:ext cx="2742840" cy="6397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2" name="Shape 33"/>
          <p:cNvSpPr/>
          <p:nvPr/>
        </p:nvSpPr>
        <p:spPr>
          <a:xfrm>
            <a:off x="6217920" y="1710000"/>
            <a:ext cx="228240" cy="228240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3" name="Text 34"/>
          <p:cNvSpPr/>
          <p:nvPr/>
        </p:nvSpPr>
        <p:spPr>
          <a:xfrm>
            <a:off x="6510600" y="1563480"/>
            <a:ext cx="2285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74151"/>
                </a:solidFill>
                <a:latin typeface="Calibri"/>
                <a:ea typeface="Calibri"/>
              </a:rPr>
              <a:t>Chrome, Firefox, Edge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Shape 35"/>
          <p:cNvSpPr/>
          <p:nvPr/>
        </p:nvSpPr>
        <p:spPr>
          <a:xfrm>
            <a:off x="6126480" y="2240280"/>
            <a:ext cx="2742840" cy="639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5" name="Shape 36"/>
          <p:cNvSpPr/>
          <p:nvPr/>
        </p:nvSpPr>
        <p:spPr>
          <a:xfrm>
            <a:off x="6217920" y="2441520"/>
            <a:ext cx="228240" cy="228240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6" name="Text 37"/>
          <p:cNvSpPr/>
          <p:nvPr/>
        </p:nvSpPr>
        <p:spPr>
          <a:xfrm>
            <a:off x="6510600" y="2295000"/>
            <a:ext cx="2285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74151"/>
                </a:solidFill>
                <a:latin typeface="Calibri"/>
                <a:ea typeface="Calibri"/>
              </a:rPr>
              <a:t>Мобилни устройства (responsive)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Shape 38"/>
          <p:cNvSpPr/>
          <p:nvPr/>
        </p:nvSpPr>
        <p:spPr>
          <a:xfrm>
            <a:off x="6126480" y="2971800"/>
            <a:ext cx="2742840" cy="6397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8" name="Shape 39"/>
          <p:cNvSpPr/>
          <p:nvPr/>
        </p:nvSpPr>
        <p:spPr>
          <a:xfrm>
            <a:off x="6217920" y="3173040"/>
            <a:ext cx="228240" cy="228240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9" name="Text 40"/>
          <p:cNvSpPr/>
          <p:nvPr/>
        </p:nvSpPr>
        <p:spPr>
          <a:xfrm>
            <a:off x="6510600" y="3026520"/>
            <a:ext cx="2285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74151"/>
                </a:solidFill>
                <a:latin typeface="Calibri"/>
                <a:ea typeface="Calibri"/>
              </a:rPr>
              <a:t>Различни разделителни способности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Shape 41"/>
          <p:cNvSpPr/>
          <p:nvPr/>
        </p:nvSpPr>
        <p:spPr>
          <a:xfrm>
            <a:off x="6126480" y="3703320"/>
            <a:ext cx="2742840" cy="639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1" name="Shape 42"/>
          <p:cNvSpPr/>
          <p:nvPr/>
        </p:nvSpPr>
        <p:spPr>
          <a:xfrm>
            <a:off x="6217920" y="3904560"/>
            <a:ext cx="228240" cy="228240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2" name="Text 43"/>
          <p:cNvSpPr/>
          <p:nvPr/>
        </p:nvSpPr>
        <p:spPr>
          <a:xfrm>
            <a:off x="6510600" y="3758040"/>
            <a:ext cx="2285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74151"/>
                </a:solidFill>
                <a:latin typeface="Calibri"/>
                <a:ea typeface="Calibri"/>
              </a:rPr>
              <a:t>Визуална консистентност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1b6b2f"/>
          </a:solidFill>
          <a:ln w="12700">
            <a:solidFill>
              <a:srgbClr val="1b6b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4" name="Text 1"/>
          <p:cNvSpPr/>
          <p:nvPr/>
        </p:nvSpPr>
        <p:spPr>
          <a:xfrm>
            <a:off x="365760" y="22860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6b2f"/>
                </a:solidFill>
                <a:latin typeface="Calibri"/>
                <a:ea typeface="Calibri"/>
              </a:rPr>
              <a:t>Изводи и препоръки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hape 2"/>
          <p:cNvSpPr/>
          <p:nvPr/>
        </p:nvSpPr>
        <p:spPr>
          <a:xfrm>
            <a:off x="365760" y="960120"/>
            <a:ext cx="4068720" cy="347040"/>
          </a:xfrm>
          <a:prstGeom prst="rect">
            <a:avLst/>
          </a:prstGeom>
          <a:solidFill>
            <a:srgbClr val="2e8b4a"/>
          </a:solidFill>
          <a:ln w="12700">
            <a:solidFill>
              <a:srgbClr val="2e8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6" name="Text 3"/>
          <p:cNvSpPr/>
          <p:nvPr/>
        </p:nvSpPr>
        <p:spPr>
          <a:xfrm>
            <a:off x="457200" y="960120"/>
            <a:ext cx="3885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✅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Постигнати резултати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Shape 4"/>
          <p:cNvSpPr/>
          <p:nvPr/>
        </p:nvSpPr>
        <p:spPr>
          <a:xfrm>
            <a:off x="365760" y="1353240"/>
            <a:ext cx="4068720" cy="594000"/>
          </a:xfrm>
          <a:prstGeom prst="rect">
            <a:avLst/>
          </a:prstGeom>
          <a:solidFill>
            <a:srgbClr val="eaf5ec"/>
          </a:solidFill>
          <a:ln w="6350">
            <a:solidFill>
              <a:srgbClr val="c8e6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8" name="Text 5"/>
          <p:cNvSpPr/>
          <p:nvPr/>
        </p:nvSpPr>
        <p:spPr>
          <a:xfrm>
            <a:off x="502920" y="1389960"/>
            <a:ext cx="38401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374151"/>
                </a:solidFill>
                <a:latin typeface="Calibri"/>
                <a:ea typeface="Calibri"/>
              </a:rPr>
              <a:t>Функционален онлайн магазин с пълен каталог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6"/>
          <p:cNvSpPr/>
          <p:nvPr/>
        </p:nvSpPr>
        <p:spPr>
          <a:xfrm>
            <a:off x="365760" y="2011680"/>
            <a:ext cx="4068720" cy="594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0" name="Text 7"/>
          <p:cNvSpPr/>
          <p:nvPr/>
        </p:nvSpPr>
        <p:spPr>
          <a:xfrm>
            <a:off x="502920" y="2048400"/>
            <a:ext cx="38401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374151"/>
                </a:solidFill>
                <a:latin typeface="Calibri"/>
                <a:ea typeface="Calibri"/>
              </a:rPr>
              <a:t>Интуитивен потребителски интерфейс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8"/>
          <p:cNvSpPr/>
          <p:nvPr/>
        </p:nvSpPr>
        <p:spPr>
          <a:xfrm>
            <a:off x="365760" y="2670120"/>
            <a:ext cx="4068720" cy="594000"/>
          </a:xfrm>
          <a:prstGeom prst="rect">
            <a:avLst/>
          </a:prstGeom>
          <a:solidFill>
            <a:srgbClr val="eaf5ec"/>
          </a:solidFill>
          <a:ln w="6350">
            <a:solidFill>
              <a:srgbClr val="c8e6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2" name="Text 9"/>
          <p:cNvSpPr/>
          <p:nvPr/>
        </p:nvSpPr>
        <p:spPr>
          <a:xfrm>
            <a:off x="502920" y="2706480"/>
            <a:ext cx="38401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374151"/>
                </a:solidFill>
                <a:latin typeface="Calibri"/>
                <a:ea typeface="Calibri"/>
              </a:rPr>
              <a:t>Сигурна система за поръчки с MySQL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Shape 10"/>
          <p:cNvSpPr/>
          <p:nvPr/>
        </p:nvSpPr>
        <p:spPr>
          <a:xfrm>
            <a:off x="365760" y="3328560"/>
            <a:ext cx="4068720" cy="594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4" name="Text 11"/>
          <p:cNvSpPr/>
          <p:nvPr/>
        </p:nvSpPr>
        <p:spPr>
          <a:xfrm>
            <a:off x="502920" y="3364920"/>
            <a:ext cx="38401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374151"/>
                </a:solidFill>
                <a:latin typeface="Calibri"/>
                <a:ea typeface="Calibri"/>
              </a:rPr>
              <a:t>Responsive дизайн за всички устройства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Shape 12"/>
          <p:cNvSpPr/>
          <p:nvPr/>
        </p:nvSpPr>
        <p:spPr>
          <a:xfrm>
            <a:off x="365760" y="3986640"/>
            <a:ext cx="4068720" cy="594000"/>
          </a:xfrm>
          <a:prstGeom prst="rect">
            <a:avLst/>
          </a:prstGeom>
          <a:solidFill>
            <a:srgbClr val="eaf5ec"/>
          </a:solidFill>
          <a:ln w="6350">
            <a:solidFill>
              <a:srgbClr val="c8e6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6" name="Text 13"/>
          <p:cNvSpPr/>
          <p:nvPr/>
        </p:nvSpPr>
        <p:spPr>
          <a:xfrm>
            <a:off x="502920" y="4023360"/>
            <a:ext cx="38401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374151"/>
                </a:solidFill>
                <a:latin typeface="Calibri"/>
                <a:ea typeface="Calibri"/>
              </a:rPr>
              <a:t>Административен панел за управление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14"/>
          <p:cNvSpPr/>
          <p:nvPr/>
        </p:nvSpPr>
        <p:spPr>
          <a:xfrm>
            <a:off x="4709160" y="960120"/>
            <a:ext cx="4068720" cy="3470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8" name="Text 15"/>
          <p:cNvSpPr/>
          <p:nvPr/>
        </p:nvSpPr>
        <p:spPr>
          <a:xfrm>
            <a:off x="4800600" y="960120"/>
            <a:ext cx="3885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🚀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Бъдещи разширения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hape 16"/>
          <p:cNvSpPr/>
          <p:nvPr/>
        </p:nvSpPr>
        <p:spPr>
          <a:xfrm>
            <a:off x="4709160" y="1353240"/>
            <a:ext cx="4068720" cy="594000"/>
          </a:xfrm>
          <a:prstGeom prst="rect">
            <a:avLst/>
          </a:prstGeom>
          <a:solidFill>
            <a:srgbClr val="fff8e1"/>
          </a:solidFill>
          <a:ln w="6350">
            <a:solidFill>
              <a:srgbClr val="ffe0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0" name="Text 17"/>
          <p:cNvSpPr/>
          <p:nvPr/>
        </p:nvSpPr>
        <p:spPr>
          <a:xfrm>
            <a:off x="4846320" y="1389960"/>
            <a:ext cx="38401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374151"/>
                </a:solidFill>
                <a:latin typeface="Calibri"/>
                <a:ea typeface="Calibri"/>
              </a:rPr>
              <a:t>Онлайн разплащания (карта / e-wallet)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Shape 18"/>
          <p:cNvSpPr/>
          <p:nvPr/>
        </p:nvSpPr>
        <p:spPr>
          <a:xfrm>
            <a:off x="4709160" y="2011680"/>
            <a:ext cx="4068720" cy="594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e0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2" name="Text 19"/>
          <p:cNvSpPr/>
          <p:nvPr/>
        </p:nvSpPr>
        <p:spPr>
          <a:xfrm>
            <a:off x="4846320" y="2048400"/>
            <a:ext cx="38401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374151"/>
                </a:solidFill>
                <a:latin typeface="Calibri"/>
                <a:ea typeface="Calibri"/>
              </a:rPr>
              <a:t>История на поръчките в профила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Shape 20"/>
          <p:cNvSpPr/>
          <p:nvPr/>
        </p:nvSpPr>
        <p:spPr>
          <a:xfrm>
            <a:off x="4709160" y="2670120"/>
            <a:ext cx="4068720" cy="594000"/>
          </a:xfrm>
          <a:prstGeom prst="rect">
            <a:avLst/>
          </a:prstGeom>
          <a:solidFill>
            <a:srgbClr val="fff8e1"/>
          </a:solidFill>
          <a:ln w="6350">
            <a:solidFill>
              <a:srgbClr val="ffe0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4" name="Text 21"/>
          <p:cNvSpPr/>
          <p:nvPr/>
        </p:nvSpPr>
        <p:spPr>
          <a:xfrm>
            <a:off x="4846320" y="2706480"/>
            <a:ext cx="38401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374151"/>
                </a:solidFill>
                <a:latin typeface="Calibri"/>
                <a:ea typeface="Calibri"/>
              </a:rPr>
              <a:t>Система за ревюта и оценки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hape 22"/>
          <p:cNvSpPr/>
          <p:nvPr/>
        </p:nvSpPr>
        <p:spPr>
          <a:xfrm>
            <a:off x="4709160" y="3328560"/>
            <a:ext cx="4068720" cy="594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e0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6" name="Text 23"/>
          <p:cNvSpPr/>
          <p:nvPr/>
        </p:nvSpPr>
        <p:spPr>
          <a:xfrm>
            <a:off x="4846320" y="3364920"/>
            <a:ext cx="38401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374151"/>
                </a:solidFill>
                <a:latin typeface="Calibri"/>
                <a:ea typeface="Calibri"/>
              </a:rPr>
              <a:t>Сезонни промоции и отстъпки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Shape 24"/>
          <p:cNvSpPr/>
          <p:nvPr/>
        </p:nvSpPr>
        <p:spPr>
          <a:xfrm>
            <a:off x="4709160" y="3986640"/>
            <a:ext cx="4068720" cy="594000"/>
          </a:xfrm>
          <a:prstGeom prst="rect">
            <a:avLst/>
          </a:prstGeom>
          <a:solidFill>
            <a:srgbClr val="fff8e1"/>
          </a:solidFill>
          <a:ln w="6350">
            <a:solidFill>
              <a:srgbClr val="ffe0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8" name="Text 25"/>
          <p:cNvSpPr/>
          <p:nvPr/>
        </p:nvSpPr>
        <p:spPr>
          <a:xfrm>
            <a:off x="4846320" y="4023360"/>
            <a:ext cx="38401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374151"/>
                </a:solidFill>
                <a:latin typeface="Calibri"/>
                <a:ea typeface="Calibri"/>
              </a:rPr>
              <a:t>Разширени филтри в каталога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6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Shape 0"/>
          <p:cNvSpPr/>
          <p:nvPr/>
        </p:nvSpPr>
        <p:spPr>
          <a:xfrm>
            <a:off x="-914400" y="-914400"/>
            <a:ext cx="4571640" cy="4571640"/>
          </a:xfrm>
          <a:prstGeom prst="ellipse">
            <a:avLst/>
          </a:prstGeom>
          <a:solidFill>
            <a:srgbClr val="2e8b4a">
              <a:alpha val="30000"/>
            </a:srgbClr>
          </a:solidFill>
          <a:ln w="12700">
            <a:solidFill>
              <a:srgbClr val="2e8b4a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0" name="Shape 1"/>
          <p:cNvSpPr/>
          <p:nvPr/>
        </p:nvSpPr>
        <p:spPr>
          <a:xfrm>
            <a:off x="6400800" y="2286000"/>
            <a:ext cx="3657240" cy="3657240"/>
          </a:xfrm>
          <a:prstGeom prst="ellipse">
            <a:avLst/>
          </a:prstGeom>
          <a:solidFill>
            <a:srgbClr val="f0a500">
              <a:alpha val="18000"/>
            </a:srgbClr>
          </a:solidFill>
          <a:ln w="12700">
            <a:solidFill>
              <a:srgbClr val="f0a500">
                <a:alpha val="1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1" name="Text 2"/>
          <p:cNvSpPr/>
          <p:nvPr/>
        </p:nvSpPr>
        <p:spPr>
          <a:xfrm>
            <a:off x="3840480" y="91440"/>
            <a:ext cx="14626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600" spc="-1" strike="noStrike">
                <a:solidFill>
                  <a:srgbClr val="000000"/>
                </a:solidFill>
                <a:latin typeface="Calibri"/>
              </a:rPr>
              <a:t>🌿</a:t>
            </a:r>
            <a:endParaRPr b="0" lang="en-US" sz="5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Text 3"/>
          <p:cNvSpPr/>
          <p:nvPr/>
        </p:nvSpPr>
        <p:spPr>
          <a:xfrm>
            <a:off x="457200" y="105156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Заключение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Shape 4"/>
          <p:cNvSpPr/>
          <p:nvPr/>
        </p:nvSpPr>
        <p:spPr>
          <a:xfrm>
            <a:off x="2286000" y="1828800"/>
            <a:ext cx="4571640" cy="543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4" name="Text 5"/>
          <p:cNvSpPr/>
          <p:nvPr/>
        </p:nvSpPr>
        <p:spPr>
          <a:xfrm>
            <a:off x="731520" y="2011680"/>
            <a:ext cx="76806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333333"/>
                </a:solidFill>
                <a:latin typeface="Calibri"/>
                <a:ea typeface="Calibri"/>
              </a:rPr>
              <a:t>Уеб сайтът “ФлораСтил” е завършен, функционален онлайн магазин, реализиран с Python, Flask и MySQL, предоставящ удобство и съвременно онлайн изживяване.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Text 6"/>
          <p:cNvSpPr/>
          <p:nvPr/>
        </p:nvSpPr>
        <p:spPr>
          <a:xfrm>
            <a:off x="731520" y="3154680"/>
            <a:ext cx="76806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a7d7b0"/>
                </a:solidFill>
                <a:latin typeface="Calibri"/>
                <a:ea typeface="Calibri"/>
              </a:rPr>
              <a:t>Проектът демонстрира задълбочени знания в разработката на трислойно уеб приложение и постига всички поставени цели.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Text 7"/>
          <p:cNvSpPr/>
          <p:nvPr/>
        </p:nvSpPr>
        <p:spPr>
          <a:xfrm>
            <a:off x="457200" y="429768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0a500"/>
                </a:solidFill>
                <a:latin typeface="Calibri"/>
                <a:ea typeface="Calibri"/>
              </a:rPr>
              <a:t>Благодаря за вниманието! 🌸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2026-05-05T07:49:11Z</dcterms:created>
  <dc:creator>PptxGenJS</dc:creator>
  <dc:description/>
  <dc:language>en-US</dc:language>
  <cp:lastModifiedBy/>
  <dcterms:modified xsi:type="dcterms:W3CDTF">2026-05-21T12:18:07Z</dcterms:modified>
  <cp:revision>4</cp:revision>
  <dc:subject>PptxGenJS Presentation</dc:subject>
  <dc:title>FloraStil - Diplomna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